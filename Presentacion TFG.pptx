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Catamaran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Fira Sans Extra Condensed Medium"/>
      <p:regular r:id="rId32"/>
      <p:bold r:id="rId33"/>
      <p:italic r:id="rId34"/>
      <p:boldItalic r:id="rId35"/>
    </p:embeddedFont>
    <p:embeddedFont>
      <p:font typeface="Livvic"/>
      <p:regular r:id="rId36"/>
      <p:bold r:id="rId37"/>
      <p:italic r:id="rId38"/>
      <p:boldItalic r:id="rId39"/>
    </p:embeddedFont>
    <p:embeddedFont>
      <p:font typeface="Catamaran Light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WvHi2+RmUPNUuol4Q3xmlDhaH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tamaranLight-regular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CatamaranLight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atamaran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font" Target="fonts/Catamaran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FiraSansExtraCondensedMedium-bold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Medium-regular.fntdata"/><Relationship Id="rId13" Type="http://schemas.openxmlformats.org/officeDocument/2006/relationships/slide" Target="slides/slide9.xml"/><Relationship Id="rId35" Type="http://schemas.openxmlformats.org/officeDocument/2006/relationships/font" Target="fonts/FiraSansExtraCondensedMedium-boldItalic.fntdata"/><Relationship Id="rId12" Type="http://schemas.openxmlformats.org/officeDocument/2006/relationships/slide" Target="slides/slide8.xml"/><Relationship Id="rId34" Type="http://schemas.openxmlformats.org/officeDocument/2006/relationships/font" Target="fonts/FiraSansExtraCondensedMedium-italic.fntdata"/><Relationship Id="rId15" Type="http://schemas.openxmlformats.org/officeDocument/2006/relationships/slide" Target="slides/slide11.xml"/><Relationship Id="rId37" Type="http://schemas.openxmlformats.org/officeDocument/2006/relationships/font" Target="fonts/Livvic-bold.fntdata"/><Relationship Id="rId14" Type="http://schemas.openxmlformats.org/officeDocument/2006/relationships/slide" Target="slides/slide10.xml"/><Relationship Id="rId36" Type="http://schemas.openxmlformats.org/officeDocument/2006/relationships/font" Target="fonts/Livvic-regular.fntdata"/><Relationship Id="rId17" Type="http://schemas.openxmlformats.org/officeDocument/2006/relationships/slide" Target="slides/slide13.xml"/><Relationship Id="rId39" Type="http://schemas.openxmlformats.org/officeDocument/2006/relationships/font" Target="fonts/Livvic-boldItalic.fntdata"/><Relationship Id="rId16" Type="http://schemas.openxmlformats.org/officeDocument/2006/relationships/slide" Target="slides/slide12.xml"/><Relationship Id="rId38" Type="http://schemas.openxmlformats.org/officeDocument/2006/relationships/font" Target="fonts/Livvic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743359ec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743359ec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743359e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743359e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743359ec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743359ec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743359ec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743359ec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743359ec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e743359ec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743359ec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e743359ec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743359ec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743359ec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743359ec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e743359ec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77165a6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77165a6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77165a6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77165a6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809d6aa9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e809d6aa9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77165a63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77165a63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77165a63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e77165a63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77165a63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e77165a63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77165a63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e77165a63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809d6aa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e809d6aa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809d6aa9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809d6aa9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809d6aa9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809d6aa9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4"/>
          <p:cNvSpPr txBox="1"/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" name="Google Shape;10;p44"/>
          <p:cNvSpPr txBox="1"/>
          <p:nvPr>
            <p:ph idx="1" type="subTitle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3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/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/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46"/>
          <p:cNvSpPr txBox="1"/>
          <p:nvPr>
            <p:ph idx="1" type="subTitle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" name="Google Shape;16;p46"/>
          <p:cNvSpPr txBox="1"/>
          <p:nvPr>
            <p:ph idx="2" type="title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7" name="Google Shape;17;p46"/>
          <p:cNvSpPr txBox="1"/>
          <p:nvPr>
            <p:ph idx="3" type="ctrTitle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46"/>
          <p:cNvSpPr txBox="1"/>
          <p:nvPr>
            <p:ph idx="4" type="subTitle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46"/>
          <p:cNvSpPr txBox="1"/>
          <p:nvPr>
            <p:ph idx="5" type="title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" name="Google Shape;20;p46"/>
          <p:cNvSpPr txBox="1"/>
          <p:nvPr>
            <p:ph idx="6" type="ctrTitle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46"/>
          <p:cNvSpPr txBox="1"/>
          <p:nvPr>
            <p:ph idx="7" type="subTitle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" name="Google Shape;22;p46"/>
          <p:cNvSpPr txBox="1"/>
          <p:nvPr>
            <p:ph idx="8" type="title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3" name="Google Shape;23;p46"/>
          <p:cNvSpPr txBox="1"/>
          <p:nvPr>
            <p:ph idx="9" type="ctrTitle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46"/>
          <p:cNvSpPr txBox="1"/>
          <p:nvPr>
            <p:ph idx="13" type="ctrTitle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" name="Google Shape;25;p46"/>
          <p:cNvSpPr txBox="1"/>
          <p:nvPr>
            <p:ph idx="14" type="subTitle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" name="Google Shape;26;p46"/>
          <p:cNvSpPr txBox="1"/>
          <p:nvPr>
            <p:ph idx="15" type="title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" name="Google Shape;27;p46"/>
          <p:cNvSpPr txBox="1"/>
          <p:nvPr>
            <p:ph idx="16" type="ctrTitle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6"/>
          <p:cNvSpPr txBox="1"/>
          <p:nvPr>
            <p:ph idx="17" type="subTitle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" name="Google Shape;29;p46"/>
          <p:cNvSpPr txBox="1"/>
          <p:nvPr>
            <p:ph idx="18" type="title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/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" type="subTitle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1">
  <p:cSld name="CUSTOM_27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8"/>
          <p:cNvSpPr txBox="1"/>
          <p:nvPr>
            <p:ph idx="1" type="subTitle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48"/>
          <p:cNvSpPr txBox="1"/>
          <p:nvPr>
            <p:ph idx="2" type="ctrTitle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" name="Google Shape;37;p48"/>
          <p:cNvSpPr txBox="1"/>
          <p:nvPr>
            <p:ph idx="3" type="subTitle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48"/>
          <p:cNvSpPr txBox="1"/>
          <p:nvPr>
            <p:ph idx="4" type="ctrTitle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" name="Google Shape;39;p48"/>
          <p:cNvSpPr txBox="1"/>
          <p:nvPr>
            <p:ph idx="5" type="subTitle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" name="Google Shape;40;p48"/>
          <p:cNvSpPr txBox="1"/>
          <p:nvPr>
            <p:ph idx="6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48"/>
          <p:cNvSpPr txBox="1"/>
          <p:nvPr>
            <p:ph idx="7" type="ctrTitle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48"/>
          <p:cNvSpPr txBox="1"/>
          <p:nvPr>
            <p:ph idx="8" type="subTitle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CUSTOM_27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49"/>
          <p:cNvSpPr txBox="1"/>
          <p:nvPr>
            <p:ph idx="1" type="subTitle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49"/>
          <p:cNvSpPr txBox="1"/>
          <p:nvPr>
            <p:ph idx="2" type="ctrTitle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49"/>
          <p:cNvSpPr txBox="1"/>
          <p:nvPr>
            <p:ph idx="3" type="subTitle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" name="Google Shape;48;p49"/>
          <p:cNvSpPr txBox="1"/>
          <p:nvPr>
            <p:ph idx="4" type="ctrTitle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49"/>
          <p:cNvSpPr txBox="1"/>
          <p:nvPr>
            <p:ph idx="5" type="ctrTitle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6" type="subTitle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14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0"/>
          <p:cNvSpPr txBox="1"/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50"/>
          <p:cNvSpPr txBox="1"/>
          <p:nvPr>
            <p:ph idx="1" type="subTitle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8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" type="subTitle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2" type="subTitle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16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/>
          <p:nvPr>
            <p:ph idx="1" type="subTitle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16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3"/>
          <p:cNvSpPr txBox="1"/>
          <p:nvPr>
            <p:ph idx="1" type="subTitle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35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4"/>
          <p:cNvSpPr txBox="1"/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CUSTOM_38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5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55"/>
          <p:cNvSpPr txBox="1"/>
          <p:nvPr>
            <p:ph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30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6"/>
          <p:cNvSpPr txBox="1"/>
          <p:nvPr>
            <p:ph idx="1" type="subTitle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56"/>
          <p:cNvSpPr txBox="1"/>
          <p:nvPr>
            <p:ph idx="2" type="ctrTitle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" name="Google Shape;72;p56"/>
          <p:cNvSpPr txBox="1"/>
          <p:nvPr>
            <p:ph idx="3" type="subTitle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56"/>
          <p:cNvSpPr txBox="1"/>
          <p:nvPr>
            <p:ph idx="4" type="ctrTitle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4" name="Google Shape;74;p56"/>
          <p:cNvSpPr txBox="1"/>
          <p:nvPr>
            <p:ph idx="5" type="subTitle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56"/>
          <p:cNvSpPr txBox="1"/>
          <p:nvPr>
            <p:ph idx="6" type="ctrTitle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56"/>
          <p:cNvSpPr txBox="1"/>
          <p:nvPr>
            <p:ph idx="7" type="ctrTitle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56"/>
          <p:cNvSpPr txBox="1"/>
          <p:nvPr>
            <p:ph idx="8" type="subTitle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56"/>
          <p:cNvSpPr txBox="1"/>
          <p:nvPr>
            <p:ph idx="9" type="ctrTitle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6"/>
          <p:cNvSpPr txBox="1"/>
          <p:nvPr>
            <p:ph idx="13" type="subTitle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56"/>
          <p:cNvSpPr txBox="1"/>
          <p:nvPr>
            <p:ph idx="14" type="ctrTitle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" name="Google Shape;81;p56"/>
          <p:cNvSpPr txBox="1"/>
          <p:nvPr>
            <p:ph idx="15" type="subTitle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1">
  <p:cSld name="CUSTOM_2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7"/>
          <p:cNvSpPr txBox="1"/>
          <p:nvPr>
            <p:ph idx="1" type="subTitle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57"/>
          <p:cNvSpPr txBox="1"/>
          <p:nvPr>
            <p:ph idx="2" type="subTitle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57"/>
          <p:cNvSpPr txBox="1"/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57"/>
          <p:cNvSpPr txBox="1"/>
          <p:nvPr>
            <p:ph idx="3" type="ctrTitle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57"/>
          <p:cNvSpPr txBox="1"/>
          <p:nvPr>
            <p:ph idx="4" type="ctrTitle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1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5">
  <p:cSld name="CUSTOM_3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/>
          <p:nvPr>
            <p:ph idx="1" type="subTitle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58"/>
          <p:cNvSpPr txBox="1"/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4">
  <p:cSld name="CUSTOM_3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9"/>
          <p:cNvSpPr txBox="1"/>
          <p:nvPr>
            <p:ph idx="1" type="subTitle"/>
          </p:nvPr>
        </p:nvSpPr>
        <p:spPr>
          <a:xfrm flipH="1">
            <a:off x="840600" y="2432150"/>
            <a:ext cx="16503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59"/>
          <p:cNvSpPr txBox="1"/>
          <p:nvPr>
            <p:ph idx="2" type="subTitle"/>
          </p:nvPr>
        </p:nvSpPr>
        <p:spPr>
          <a:xfrm>
            <a:off x="4702174" y="1049093"/>
            <a:ext cx="1960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59"/>
          <p:cNvSpPr txBox="1"/>
          <p:nvPr>
            <p:ph type="ctrTitle"/>
          </p:nvPr>
        </p:nvSpPr>
        <p:spPr>
          <a:xfrm>
            <a:off x="-533400" y="2047350"/>
            <a:ext cx="302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59"/>
          <p:cNvSpPr txBox="1"/>
          <p:nvPr>
            <p:ph idx="3" type="ctrTitle"/>
          </p:nvPr>
        </p:nvSpPr>
        <p:spPr>
          <a:xfrm>
            <a:off x="4702174" y="664293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59"/>
          <p:cNvSpPr txBox="1"/>
          <p:nvPr>
            <p:ph idx="4" type="subTitle"/>
          </p:nvPr>
        </p:nvSpPr>
        <p:spPr>
          <a:xfrm>
            <a:off x="4702174" y="3788925"/>
            <a:ext cx="2214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7" name="Google Shape;97;p59"/>
          <p:cNvSpPr txBox="1"/>
          <p:nvPr>
            <p:ph idx="5" type="ctrTitle"/>
          </p:nvPr>
        </p:nvSpPr>
        <p:spPr>
          <a:xfrm>
            <a:off x="4702174" y="3389725"/>
            <a:ext cx="247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59"/>
          <p:cNvSpPr txBox="1"/>
          <p:nvPr>
            <p:ph idx="6"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1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2">
  <p:cSld name="CUSTOM_3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/>
          <p:nvPr>
            <p:ph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" name="Google Shape;101;p60"/>
          <p:cNvSpPr txBox="1"/>
          <p:nvPr>
            <p:ph idx="1" type="subTitle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2" name="Google Shape;102;p60"/>
          <p:cNvSpPr txBox="1"/>
          <p:nvPr>
            <p:ph idx="2" type="ctrTitle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60"/>
          <p:cNvSpPr txBox="1"/>
          <p:nvPr>
            <p:ph idx="3" type="subTitle"/>
          </p:nvPr>
        </p:nvSpPr>
        <p:spPr>
          <a:xfrm>
            <a:off x="4068269" y="2147200"/>
            <a:ext cx="16266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4" name="Google Shape;104;p60"/>
          <p:cNvSpPr txBox="1"/>
          <p:nvPr>
            <p:ph idx="4" type="ctrTitle"/>
          </p:nvPr>
        </p:nvSpPr>
        <p:spPr>
          <a:xfrm>
            <a:off x="3075567" y="1762400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6">
  <p:cSld name="CUSTOM_11_1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1"/>
          <p:cNvSpPr txBox="1"/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61"/>
          <p:cNvSpPr txBox="1"/>
          <p:nvPr>
            <p:ph idx="1" type="subTitle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CUSTOM_2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2"/>
          <p:cNvSpPr txBox="1"/>
          <p:nvPr>
            <p:ph idx="1" type="body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0" name="Google Shape;110;p62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2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3"/>
          <p:cNvSpPr txBox="1"/>
          <p:nvPr>
            <p:ph idx="1" type="body"/>
          </p:nvPr>
        </p:nvSpPr>
        <p:spPr>
          <a:xfrm>
            <a:off x="642050" y="1277550"/>
            <a:ext cx="53082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3" name="Google Shape;113;p63"/>
          <p:cNvSpPr txBox="1"/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63"/>
          <p:cNvSpPr txBox="1"/>
          <p:nvPr>
            <p:ph idx="2" type="subTitle"/>
          </p:nvPr>
        </p:nvSpPr>
        <p:spPr>
          <a:xfrm>
            <a:off x="642050" y="540000"/>
            <a:ext cx="46554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1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b="0" i="0" sz="1200" u="none" cap="none" strike="noStrike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" title="Prescott-Walla-Walla-Washington-high-resolution-satellite-imagery.jpg"/>
          <p:cNvPicPr preferRelativeResize="0"/>
          <p:nvPr/>
        </p:nvPicPr>
        <p:blipFill rotWithShape="1">
          <a:blip r:embed="rId3">
            <a:alphaModFix/>
          </a:blip>
          <a:srcRect b="0" l="0" r="11434" t="0"/>
          <a:stretch/>
        </p:blipFill>
        <p:spPr>
          <a:xfrm>
            <a:off x="2699326" y="0"/>
            <a:ext cx="6444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 rot="5400000">
            <a:off x="1867750" y="-6775"/>
            <a:ext cx="3358800" cy="5026500"/>
          </a:xfrm>
          <a:prstGeom prst="rect">
            <a:avLst/>
          </a:prstGeom>
          <a:solidFill>
            <a:schemeClr val="accent1">
              <a:alpha val="86274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>
            <p:ph idx="1" type="subTitle"/>
          </p:nvPr>
        </p:nvSpPr>
        <p:spPr>
          <a:xfrm>
            <a:off x="1478450" y="3185775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>
                <a:solidFill>
                  <a:schemeClr val="lt1"/>
                </a:solidFill>
              </a:rPr>
              <a:t>Aimar Alustiza Sánchez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"/>
          <p:cNvSpPr txBox="1"/>
          <p:nvPr>
            <p:ph type="ctrTitle"/>
          </p:nvPr>
        </p:nvSpPr>
        <p:spPr>
          <a:xfrm>
            <a:off x="1478450" y="1680600"/>
            <a:ext cx="45924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 sz="2700">
                <a:solidFill>
                  <a:schemeClr val="lt1"/>
                </a:solidFill>
              </a:rPr>
              <a:t>Diseño y prueba de concepto de un sistema de superresolución satelital mediante Swin Transformers y Redes Adversarias </a:t>
            </a:r>
            <a:endParaRPr sz="2700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23" name="Google Shape;123;p1"/>
          <p:cNvSpPr/>
          <p:nvPr/>
        </p:nvSpPr>
        <p:spPr>
          <a:xfrm flipH="1" rot="-5400000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>
            <p:ph idx="1" type="subTitle"/>
          </p:nvPr>
        </p:nvSpPr>
        <p:spPr>
          <a:xfrm>
            <a:off x="122900" y="4206500"/>
            <a:ext cx="2091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>
                <a:solidFill>
                  <a:schemeClr val="dk2"/>
                </a:solidFill>
              </a:rPr>
              <a:t>Tutores: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>
                <a:solidFill>
                  <a:schemeClr val="dk2"/>
                </a:solidFill>
              </a:rPr>
              <a:t>Unai Pérez Goya,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>
                <a:solidFill>
                  <a:schemeClr val="dk2"/>
                </a:solidFill>
              </a:rPr>
              <a:t>José Javier Astrain Escola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>
                <a:solidFill>
                  <a:schemeClr val="dk2"/>
                </a:solidFill>
              </a:rPr>
              <a:t>Fecha: 04 junio 2026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5" name="Google Shape;125;p1"/>
          <p:cNvPicPr preferRelativeResize="0"/>
          <p:nvPr/>
        </p:nvPicPr>
        <p:blipFill rotWithShape="1">
          <a:blip r:embed="rId4">
            <a:alphaModFix amt="76000"/>
          </a:blip>
          <a:srcRect b="22637" l="0" r="0" t="18536"/>
          <a:stretch/>
        </p:blipFill>
        <p:spPr>
          <a:xfrm>
            <a:off x="5367900" y="3532200"/>
            <a:ext cx="1495200" cy="8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idx="9" type="ctrTitle"/>
          </p:nvPr>
        </p:nvSpPr>
        <p:spPr>
          <a:xfrm>
            <a:off x="3423859" y="204825"/>
            <a:ext cx="4251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sz="2400"/>
              <a:t>TABLA DE CONTENIDOS</a:t>
            </a:r>
            <a:endParaRPr sz="2400"/>
          </a:p>
        </p:txBody>
      </p:sp>
      <p:sp>
        <p:nvSpPr>
          <p:cNvPr id="131" name="Google Shape;131;p3"/>
          <p:cNvSpPr/>
          <p:nvPr/>
        </p:nvSpPr>
        <p:spPr>
          <a:xfrm flipH="1" rot="-5400000">
            <a:off x="-1213500" y="1147550"/>
            <a:ext cx="5652000" cy="32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>
            <p:ph idx="7" type="subTitle"/>
          </p:nvPr>
        </p:nvSpPr>
        <p:spPr>
          <a:xfrm>
            <a:off x="3427947" y="2920322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Entrenamiento, </a:t>
            </a:r>
            <a:r>
              <a:rPr lang="es"/>
              <a:t>selección</a:t>
            </a:r>
            <a:r>
              <a:rPr lang="es"/>
              <a:t> de modelos, </a:t>
            </a:r>
            <a:r>
              <a:rPr lang="es"/>
              <a:t>evaluación</a:t>
            </a:r>
            <a:r>
              <a:rPr lang="es"/>
              <a:t> cuantitativa y cualitativa</a:t>
            </a:r>
            <a:endParaRPr/>
          </a:p>
        </p:txBody>
      </p:sp>
      <p:sp>
        <p:nvSpPr>
          <p:cNvPr id="133" name="Google Shape;133;p3"/>
          <p:cNvSpPr txBox="1"/>
          <p:nvPr>
            <p:ph idx="6" type="ctrTitle"/>
          </p:nvPr>
        </p:nvSpPr>
        <p:spPr>
          <a:xfrm>
            <a:off x="3427950" y="2506225"/>
            <a:ext cx="2646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/>
              <a:t>EXPERIMENTOS Y RESULTADOS</a:t>
            </a:r>
            <a:endParaRPr/>
          </a:p>
        </p:txBody>
      </p:sp>
      <p:sp>
        <p:nvSpPr>
          <p:cNvPr id="134" name="Google Shape;134;p3"/>
          <p:cNvSpPr txBox="1"/>
          <p:nvPr>
            <p:ph idx="8" type="title"/>
          </p:nvPr>
        </p:nvSpPr>
        <p:spPr>
          <a:xfrm>
            <a:off x="2022957" y="2768588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3"/>
          <p:cNvSpPr txBox="1"/>
          <p:nvPr>
            <p:ph type="ctrTitle"/>
          </p:nvPr>
        </p:nvSpPr>
        <p:spPr>
          <a:xfrm>
            <a:off x="3423852" y="83259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/>
              <a:t>MOTIVACIÓN</a:t>
            </a:r>
            <a:r>
              <a:rPr lang="es"/>
              <a:t> Y ODS</a:t>
            </a:r>
            <a:endParaRPr/>
          </a:p>
        </p:txBody>
      </p:sp>
      <p:sp>
        <p:nvSpPr>
          <p:cNvPr id="136" name="Google Shape;136;p3"/>
          <p:cNvSpPr txBox="1"/>
          <p:nvPr>
            <p:ph idx="1" type="subTitle"/>
          </p:nvPr>
        </p:nvSpPr>
        <p:spPr>
          <a:xfrm>
            <a:off x="3423850" y="1247646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Se describe la </a:t>
            </a:r>
            <a:r>
              <a:rPr lang="es"/>
              <a:t>motivación, </a:t>
            </a:r>
            <a:r>
              <a:rPr lang="es"/>
              <a:t>el contexto y los ODS</a:t>
            </a:r>
            <a:endParaRPr/>
          </a:p>
        </p:txBody>
      </p:sp>
      <p:sp>
        <p:nvSpPr>
          <p:cNvPr id="137" name="Google Shape;137;p3"/>
          <p:cNvSpPr txBox="1"/>
          <p:nvPr>
            <p:ph idx="2" type="title"/>
          </p:nvPr>
        </p:nvSpPr>
        <p:spPr>
          <a:xfrm>
            <a:off x="2022957" y="1099238"/>
            <a:ext cx="173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3"/>
          <p:cNvSpPr txBox="1"/>
          <p:nvPr>
            <p:ph idx="3" type="ctrTitle"/>
          </p:nvPr>
        </p:nvSpPr>
        <p:spPr>
          <a:xfrm>
            <a:off x="3425214" y="166941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/>
              <a:t>SOLUCIÓN</a:t>
            </a:r>
            <a:r>
              <a:rPr lang="es"/>
              <a:t> PROPUESTA</a:t>
            </a:r>
            <a:endParaRPr/>
          </a:p>
        </p:txBody>
      </p:sp>
      <p:sp>
        <p:nvSpPr>
          <p:cNvPr id="139" name="Google Shape;139;p3"/>
          <p:cNvSpPr txBox="1"/>
          <p:nvPr>
            <p:ph idx="4" type="subTitle"/>
          </p:nvPr>
        </p:nvSpPr>
        <p:spPr>
          <a:xfrm>
            <a:off x="3425209" y="2083984"/>
            <a:ext cx="197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Se describe la arquitectura elegida y las decisiones tomadas.</a:t>
            </a:r>
            <a:endParaRPr/>
          </a:p>
        </p:txBody>
      </p:sp>
      <p:sp>
        <p:nvSpPr>
          <p:cNvPr id="140" name="Google Shape;140;p3"/>
          <p:cNvSpPr txBox="1"/>
          <p:nvPr>
            <p:ph idx="5" type="title"/>
          </p:nvPr>
        </p:nvSpPr>
        <p:spPr>
          <a:xfrm>
            <a:off x="2022957" y="1933913"/>
            <a:ext cx="1615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3"/>
          <p:cNvSpPr txBox="1"/>
          <p:nvPr>
            <p:ph idx="13" type="ctrTitle"/>
          </p:nvPr>
        </p:nvSpPr>
        <p:spPr>
          <a:xfrm>
            <a:off x="3427950" y="3343025"/>
            <a:ext cx="3448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/>
              <a:t>CONCLUSIONES Y </a:t>
            </a:r>
            <a:r>
              <a:rPr lang="es"/>
              <a:t>LÍNEAS</a:t>
            </a:r>
            <a:r>
              <a:rPr lang="es"/>
              <a:t> FUTURAS</a:t>
            </a:r>
            <a:endParaRPr/>
          </a:p>
        </p:txBody>
      </p:sp>
      <p:sp>
        <p:nvSpPr>
          <p:cNvPr id="142" name="Google Shape;142;p3"/>
          <p:cNvSpPr txBox="1"/>
          <p:nvPr>
            <p:ph idx="14" type="subTitle"/>
          </p:nvPr>
        </p:nvSpPr>
        <p:spPr>
          <a:xfrm>
            <a:off x="3427947" y="3756659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Conclusiones, resumen y </a:t>
            </a:r>
            <a:r>
              <a:rPr lang="es"/>
              <a:t>líneas</a:t>
            </a:r>
            <a:r>
              <a:rPr lang="es"/>
              <a:t> futuras</a:t>
            </a:r>
            <a:endParaRPr/>
          </a:p>
        </p:txBody>
      </p:sp>
      <p:sp>
        <p:nvSpPr>
          <p:cNvPr id="143" name="Google Shape;143;p3"/>
          <p:cNvSpPr txBox="1"/>
          <p:nvPr>
            <p:ph idx="15" type="title"/>
          </p:nvPr>
        </p:nvSpPr>
        <p:spPr>
          <a:xfrm>
            <a:off x="2022957" y="360326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743359ec8_0_63"/>
          <p:cNvSpPr/>
          <p:nvPr/>
        </p:nvSpPr>
        <p:spPr>
          <a:xfrm>
            <a:off x="7405500" y="0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743359ec8_0_63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e743359ec8_0_63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chemeClr val="lt1"/>
                </a:solidFill>
              </a:rPr>
              <a:t>MOTIVACIÓN</a:t>
            </a:r>
            <a:r>
              <a:rPr lang="es">
                <a:solidFill>
                  <a:schemeClr val="lt1"/>
                </a:solidFill>
              </a:rPr>
              <a:t> Y ODS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g3e743359ec8_0_63"/>
          <p:cNvSpPr txBox="1"/>
          <p:nvPr>
            <p:ph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743359ec8_0_6"/>
          <p:cNvSpPr/>
          <p:nvPr/>
        </p:nvSpPr>
        <p:spPr>
          <a:xfrm>
            <a:off x="282075" y="1894728"/>
            <a:ext cx="3517800" cy="22917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e743359ec8_0_6"/>
          <p:cNvSpPr txBox="1"/>
          <p:nvPr>
            <p:ph idx="1" type="subTitle"/>
          </p:nvPr>
        </p:nvSpPr>
        <p:spPr>
          <a:xfrm>
            <a:off x="282075" y="2178700"/>
            <a:ext cx="35178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Sector público (Sentinel‑2, ESA): 10 m/píxel, acceso gratuito, pero insuficiente para detalles pequeños.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Sector comercial (WorldView, Pléiades, etc):     &lt;1 m/píxel, alta calidad, pero coste muy elevado y licencias cerradas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58" name="Google Shape;158;g3e743359ec8_0_6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La brecha de resolución entre </a:t>
            </a:r>
            <a:r>
              <a:rPr lang="es"/>
              <a:t>imágenes</a:t>
            </a:r>
            <a:r>
              <a:rPr lang="es"/>
              <a:t> satelitales </a:t>
            </a:r>
            <a:r>
              <a:rPr lang="es"/>
              <a:t>públicas</a:t>
            </a:r>
            <a:r>
              <a:rPr lang="es"/>
              <a:t> y comerciales</a:t>
            </a:r>
            <a:endParaRPr/>
          </a:p>
        </p:txBody>
      </p:sp>
      <p:sp>
        <p:nvSpPr>
          <p:cNvPr id="159" name="Google Shape;159;g3e743359ec8_0_6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e743359ec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900" y="1894725"/>
            <a:ext cx="4723602" cy="23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e743359ec8_0_6"/>
          <p:cNvSpPr txBox="1"/>
          <p:nvPr>
            <p:ph idx="1" type="subTitle"/>
          </p:nvPr>
        </p:nvSpPr>
        <p:spPr>
          <a:xfrm>
            <a:off x="4517700" y="4311650"/>
            <a:ext cx="1092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Accesibilidad</a:t>
            </a:r>
            <a:endParaRPr/>
          </a:p>
        </p:txBody>
      </p:sp>
      <p:sp>
        <p:nvSpPr>
          <p:cNvPr id="162" name="Google Shape;162;g3e743359ec8_0_6"/>
          <p:cNvSpPr txBox="1"/>
          <p:nvPr>
            <p:ph idx="1" type="subTitle"/>
          </p:nvPr>
        </p:nvSpPr>
        <p:spPr>
          <a:xfrm>
            <a:off x="7518825" y="4311650"/>
            <a:ext cx="7221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Calidad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e743359ec8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725" y="555350"/>
            <a:ext cx="6164649" cy="322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e743359ec8_0_44"/>
          <p:cNvSpPr/>
          <p:nvPr/>
        </p:nvSpPr>
        <p:spPr>
          <a:xfrm>
            <a:off x="0" y="2632200"/>
            <a:ext cx="9144000" cy="25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743359ec8_0_44"/>
          <p:cNvSpPr txBox="1"/>
          <p:nvPr>
            <p:ph idx="1" type="subTitle"/>
          </p:nvPr>
        </p:nvSpPr>
        <p:spPr>
          <a:xfrm>
            <a:off x="6434800" y="3553810"/>
            <a:ext cx="1522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Vida de Ecosistemas Terrestres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Monitorización de bosques, inundaciones y tierras degradadas.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g3e743359ec8_0_44"/>
          <p:cNvSpPr txBox="1"/>
          <p:nvPr>
            <p:ph idx="3" type="subTitle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Industria, Innovación e Infraestructura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Democratización del acceso a imágenes de alta resolución mediante IA de código abierto.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g3e743359ec8_0_44"/>
          <p:cNvSpPr txBox="1"/>
          <p:nvPr>
            <p:ph idx="2" type="ctrTitle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ODS 9</a:t>
            </a:r>
            <a:endParaRPr/>
          </a:p>
        </p:txBody>
      </p:sp>
      <p:sp>
        <p:nvSpPr>
          <p:cNvPr id="172" name="Google Shape;172;g3e743359ec8_0_44"/>
          <p:cNvSpPr txBox="1"/>
          <p:nvPr>
            <p:ph type="ctrTitle"/>
          </p:nvPr>
        </p:nvSpPr>
        <p:spPr>
          <a:xfrm>
            <a:off x="6434825" y="2993035"/>
            <a:ext cx="1828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ODS 15</a:t>
            </a:r>
            <a:endParaRPr/>
          </a:p>
        </p:txBody>
      </p:sp>
      <p:sp>
        <p:nvSpPr>
          <p:cNvPr id="173" name="Google Shape;173;g3e743359ec8_0_44"/>
          <p:cNvSpPr txBox="1"/>
          <p:nvPr>
            <p:ph idx="5" type="ctrTitle"/>
          </p:nvPr>
        </p:nvSpPr>
        <p:spPr>
          <a:xfrm>
            <a:off x="3685182" y="2993035"/>
            <a:ext cx="17988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ODS 11</a:t>
            </a:r>
            <a:endParaRPr/>
          </a:p>
        </p:txBody>
      </p:sp>
      <p:sp>
        <p:nvSpPr>
          <p:cNvPr id="174" name="Google Shape;174;g3e743359ec8_0_44"/>
          <p:cNvSpPr txBox="1"/>
          <p:nvPr>
            <p:ph idx="6" type="subTitle"/>
          </p:nvPr>
        </p:nvSpPr>
        <p:spPr>
          <a:xfrm>
            <a:off x="3608938" y="3553810"/>
            <a:ext cx="1476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Ciudades y Comunidades Sostenibles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>
                <a:solidFill>
                  <a:schemeClr val="lt1"/>
                </a:solidFill>
              </a:rPr>
              <a:t>Mejora de mapas urbanos para identificar carreteras, edificios e infraestructuras.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g3e743359ec8_0_44"/>
          <p:cNvSpPr/>
          <p:nvPr/>
        </p:nvSpPr>
        <p:spPr>
          <a:xfrm flipH="1" rot="10800000">
            <a:off x="0" y="2419500"/>
            <a:ext cx="9164100" cy="2127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743359ec8_0_70"/>
          <p:cNvSpPr/>
          <p:nvPr/>
        </p:nvSpPr>
        <p:spPr>
          <a:xfrm>
            <a:off x="7405500" y="0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743359ec8_0_70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743359ec8_0_70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chemeClr val="lt1"/>
                </a:solidFill>
              </a:rPr>
              <a:t>SOLUCIÓN PROPUESTA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g3e743359ec8_0_70"/>
          <p:cNvSpPr txBox="1"/>
          <p:nvPr>
            <p:ph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/>
        </p:nvSpPr>
        <p:spPr>
          <a:xfrm>
            <a:off x="7814400" y="773400"/>
            <a:ext cx="1329600" cy="4370100"/>
          </a:xfrm>
          <a:prstGeom prst="rect">
            <a:avLst/>
          </a:prstGeom>
          <a:solidFill>
            <a:schemeClr val="accent1">
              <a:alpha val="7333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6210050" y="938025"/>
            <a:ext cx="2271300" cy="116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0" y="0"/>
            <a:ext cx="1329600" cy="4370100"/>
          </a:xfrm>
          <a:prstGeom prst="rect">
            <a:avLst/>
          </a:prstGeom>
          <a:solidFill>
            <a:schemeClr val="accent1">
              <a:alpha val="7333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720000" y="975325"/>
            <a:ext cx="2271300" cy="116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>
            <p:ph type="ctrTitle"/>
          </p:nvPr>
        </p:nvSpPr>
        <p:spPr>
          <a:xfrm>
            <a:off x="3244075" y="567075"/>
            <a:ext cx="2713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Dos enfoques de entrenamiento SwinIR</a:t>
            </a:r>
            <a:endParaRPr/>
          </a:p>
        </p:txBody>
      </p:sp>
      <p:sp>
        <p:nvSpPr>
          <p:cNvPr id="193" name="Google Shape;193;p24"/>
          <p:cNvSpPr txBox="1"/>
          <p:nvPr>
            <p:ph idx="1" type="subTitle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Optimiza el error píxel a píxel (pérdida L1). Obtiene imágenes muy fieles numéricamente, pero suaves y sin textura. Ante la duda, promedia colores para no equivocarse.</a:t>
            </a:r>
            <a:endParaRPr/>
          </a:p>
        </p:txBody>
      </p:sp>
      <p:sp>
        <p:nvSpPr>
          <p:cNvPr id="194" name="Google Shape;194;p24"/>
          <p:cNvSpPr txBox="1"/>
          <p:nvPr>
            <p:ph idx="3" type="subTitle"/>
          </p:nvPr>
        </p:nvSpPr>
        <p:spPr>
          <a:xfrm>
            <a:off x="5997269" y="2109900"/>
            <a:ext cx="16266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000"/>
              <a:buNone/>
            </a:pPr>
            <a:r>
              <a:rPr lang="es">
                <a:solidFill>
                  <a:schemeClr val="dk1"/>
                </a:solidFill>
              </a:rPr>
              <a:t>Añade una red discriminadora y pérdida perceptual. El generador aprende a engañar al discriminador, lo que le fuerza a crear texturas realistas. Gana en nitidez y apariencia natural..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24"/>
          <p:cNvSpPr txBox="1"/>
          <p:nvPr>
            <p:ph idx="4" type="ctrTitle"/>
          </p:nvPr>
        </p:nvSpPr>
        <p:spPr>
          <a:xfrm>
            <a:off x="5004574" y="1725100"/>
            <a:ext cx="245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>
                <a:solidFill>
                  <a:schemeClr val="lt1"/>
                </a:solidFill>
              </a:rPr>
              <a:t>GAN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6" name="Google Shape;196;p24"/>
          <p:cNvSpPr txBox="1"/>
          <p:nvPr>
            <p:ph idx="2" type="ctrTitle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>
                <a:solidFill>
                  <a:schemeClr val="lt1"/>
                </a:solidFill>
              </a:rPr>
              <a:t>PSNR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989825" y="1369475"/>
            <a:ext cx="554161" cy="577810"/>
          </a:xfrm>
          <a:custGeom>
            <a:rect b="b" l="l" r="r" t="t"/>
            <a:pathLst>
              <a:path extrusionOk="0" h="11693" w="11693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4"/>
          <p:cNvGrpSpPr/>
          <p:nvPr/>
        </p:nvGrpSpPr>
        <p:grpSpPr>
          <a:xfrm>
            <a:off x="7696937" y="1520172"/>
            <a:ext cx="554146" cy="389813"/>
            <a:chOff x="7989683" y="2350207"/>
            <a:chExt cx="332761" cy="234066"/>
          </a:xfrm>
        </p:grpSpPr>
        <p:sp>
          <p:nvSpPr>
            <p:cNvPr id="199" name="Google Shape;199;p24"/>
            <p:cNvSpPr/>
            <p:nvPr/>
          </p:nvSpPr>
          <p:spPr>
            <a:xfrm>
              <a:off x="8258902" y="2396188"/>
              <a:ext cx="29119" cy="22101"/>
            </a:xfrm>
            <a:custGeom>
              <a:rect b="b" l="l" r="r" t="t"/>
              <a:pathLst>
                <a:path extrusionOk="0" h="696" w="917">
                  <a:moveTo>
                    <a:pt x="165" y="0"/>
                  </a:moveTo>
                  <a:cubicBezTo>
                    <a:pt x="114" y="0"/>
                    <a:pt x="64" y="22"/>
                    <a:pt x="36" y="64"/>
                  </a:cubicBezTo>
                  <a:cubicBezTo>
                    <a:pt x="0" y="148"/>
                    <a:pt x="12" y="243"/>
                    <a:pt x="84" y="291"/>
                  </a:cubicBezTo>
                  <a:cubicBezTo>
                    <a:pt x="262" y="410"/>
                    <a:pt x="441" y="529"/>
                    <a:pt x="631" y="660"/>
                  </a:cubicBezTo>
                  <a:cubicBezTo>
                    <a:pt x="667" y="684"/>
                    <a:pt x="691" y="695"/>
                    <a:pt x="726" y="695"/>
                  </a:cubicBezTo>
                  <a:cubicBezTo>
                    <a:pt x="762" y="695"/>
                    <a:pt x="834" y="660"/>
                    <a:pt x="857" y="624"/>
                  </a:cubicBezTo>
                  <a:cubicBezTo>
                    <a:pt x="917" y="565"/>
                    <a:pt x="893" y="457"/>
                    <a:pt x="810" y="398"/>
                  </a:cubicBezTo>
                  <a:cubicBezTo>
                    <a:pt x="619" y="267"/>
                    <a:pt x="441" y="148"/>
                    <a:pt x="262" y="29"/>
                  </a:cubicBezTo>
                  <a:cubicBezTo>
                    <a:pt x="234" y="10"/>
                    <a:pt x="199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8051320" y="2350207"/>
              <a:ext cx="194753" cy="49919"/>
            </a:xfrm>
            <a:custGeom>
              <a:rect b="b" l="l" r="r" t="t"/>
              <a:pathLst>
                <a:path extrusionOk="0" h="1572" w="6133">
                  <a:moveTo>
                    <a:pt x="3299" y="0"/>
                  </a:moveTo>
                  <a:cubicBezTo>
                    <a:pt x="2501" y="0"/>
                    <a:pt x="1441" y="417"/>
                    <a:pt x="108" y="1274"/>
                  </a:cubicBezTo>
                  <a:cubicBezTo>
                    <a:pt x="24" y="1322"/>
                    <a:pt x="1" y="1429"/>
                    <a:pt x="60" y="1501"/>
                  </a:cubicBezTo>
                  <a:cubicBezTo>
                    <a:pt x="84" y="1548"/>
                    <a:pt x="144" y="1572"/>
                    <a:pt x="191" y="1572"/>
                  </a:cubicBezTo>
                  <a:cubicBezTo>
                    <a:pt x="227" y="1572"/>
                    <a:pt x="251" y="1560"/>
                    <a:pt x="286" y="1548"/>
                  </a:cubicBezTo>
                  <a:cubicBezTo>
                    <a:pt x="1572" y="727"/>
                    <a:pt x="2560" y="322"/>
                    <a:pt x="3299" y="322"/>
                  </a:cubicBezTo>
                  <a:cubicBezTo>
                    <a:pt x="3954" y="322"/>
                    <a:pt x="4787" y="643"/>
                    <a:pt x="5859" y="1262"/>
                  </a:cubicBezTo>
                  <a:cubicBezTo>
                    <a:pt x="5885" y="1277"/>
                    <a:pt x="5912" y="1284"/>
                    <a:pt x="5939" y="1284"/>
                  </a:cubicBezTo>
                  <a:cubicBezTo>
                    <a:pt x="5997" y="1284"/>
                    <a:pt x="6052" y="1252"/>
                    <a:pt x="6085" y="1203"/>
                  </a:cubicBezTo>
                  <a:cubicBezTo>
                    <a:pt x="6132" y="1131"/>
                    <a:pt x="6097" y="1024"/>
                    <a:pt x="6025" y="977"/>
                  </a:cubicBezTo>
                  <a:cubicBezTo>
                    <a:pt x="4906" y="322"/>
                    <a:pt x="4013" y="0"/>
                    <a:pt x="32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7989683" y="2378183"/>
              <a:ext cx="332761" cy="206090"/>
            </a:xfrm>
            <a:custGeom>
              <a:rect b="b" l="l" r="r" t="t"/>
              <a:pathLst>
                <a:path extrusionOk="0" h="6490" w="10479">
                  <a:moveTo>
                    <a:pt x="5240" y="334"/>
                  </a:moveTo>
                  <a:cubicBezTo>
                    <a:pt x="6597" y="334"/>
                    <a:pt x="9276" y="2453"/>
                    <a:pt x="10086" y="3096"/>
                  </a:cubicBezTo>
                  <a:cubicBezTo>
                    <a:pt x="10121" y="3132"/>
                    <a:pt x="10157" y="3179"/>
                    <a:pt x="10157" y="3239"/>
                  </a:cubicBezTo>
                  <a:cubicBezTo>
                    <a:pt x="10157" y="3298"/>
                    <a:pt x="10121" y="3346"/>
                    <a:pt x="10086" y="3394"/>
                  </a:cubicBezTo>
                  <a:cubicBezTo>
                    <a:pt x="9288" y="4025"/>
                    <a:pt x="6597" y="6144"/>
                    <a:pt x="5240" y="6144"/>
                  </a:cubicBezTo>
                  <a:cubicBezTo>
                    <a:pt x="3894" y="6144"/>
                    <a:pt x="1215" y="4025"/>
                    <a:pt x="406" y="3394"/>
                  </a:cubicBezTo>
                  <a:cubicBezTo>
                    <a:pt x="358" y="3346"/>
                    <a:pt x="334" y="3298"/>
                    <a:pt x="334" y="3239"/>
                  </a:cubicBezTo>
                  <a:cubicBezTo>
                    <a:pt x="334" y="3179"/>
                    <a:pt x="358" y="3120"/>
                    <a:pt x="406" y="3096"/>
                  </a:cubicBezTo>
                  <a:cubicBezTo>
                    <a:pt x="1192" y="2453"/>
                    <a:pt x="3894" y="334"/>
                    <a:pt x="5240" y="334"/>
                  </a:cubicBezTo>
                  <a:close/>
                  <a:moveTo>
                    <a:pt x="5240" y="0"/>
                  </a:moveTo>
                  <a:cubicBezTo>
                    <a:pt x="3811" y="0"/>
                    <a:pt x="1239" y="1977"/>
                    <a:pt x="191" y="2822"/>
                  </a:cubicBezTo>
                  <a:cubicBezTo>
                    <a:pt x="84" y="2929"/>
                    <a:pt x="1" y="3072"/>
                    <a:pt x="1" y="3239"/>
                  </a:cubicBezTo>
                  <a:cubicBezTo>
                    <a:pt x="1" y="3406"/>
                    <a:pt x="84" y="3548"/>
                    <a:pt x="191" y="3656"/>
                  </a:cubicBezTo>
                  <a:cubicBezTo>
                    <a:pt x="1239" y="4501"/>
                    <a:pt x="3811" y="6489"/>
                    <a:pt x="5240" y="6489"/>
                  </a:cubicBezTo>
                  <a:cubicBezTo>
                    <a:pt x="6657" y="6489"/>
                    <a:pt x="9252" y="4501"/>
                    <a:pt x="10288" y="3656"/>
                  </a:cubicBezTo>
                  <a:cubicBezTo>
                    <a:pt x="10407" y="3548"/>
                    <a:pt x="10478" y="3406"/>
                    <a:pt x="10478" y="3239"/>
                  </a:cubicBezTo>
                  <a:cubicBezTo>
                    <a:pt x="10478" y="3072"/>
                    <a:pt x="10407" y="2929"/>
                    <a:pt x="10288" y="2822"/>
                  </a:cubicBezTo>
                  <a:cubicBezTo>
                    <a:pt x="9252" y="1977"/>
                    <a:pt x="6668" y="0"/>
                    <a:pt x="5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8081201" y="2405746"/>
              <a:ext cx="151598" cy="149884"/>
            </a:xfrm>
            <a:custGeom>
              <a:rect b="b" l="l" r="r" t="t"/>
              <a:pathLst>
                <a:path extrusionOk="0" h="4720" w="4774">
                  <a:moveTo>
                    <a:pt x="2351" y="1"/>
                  </a:moveTo>
                  <a:cubicBezTo>
                    <a:pt x="2329" y="1"/>
                    <a:pt x="2308" y="1"/>
                    <a:pt x="2286" y="2"/>
                  </a:cubicBezTo>
                  <a:cubicBezTo>
                    <a:pt x="1048" y="49"/>
                    <a:pt x="36" y="1049"/>
                    <a:pt x="12" y="2288"/>
                  </a:cubicBezTo>
                  <a:cubicBezTo>
                    <a:pt x="0" y="2907"/>
                    <a:pt x="203" y="3478"/>
                    <a:pt x="572" y="3907"/>
                  </a:cubicBezTo>
                  <a:cubicBezTo>
                    <a:pt x="602" y="3943"/>
                    <a:pt x="646" y="3960"/>
                    <a:pt x="691" y="3960"/>
                  </a:cubicBezTo>
                  <a:cubicBezTo>
                    <a:pt x="735" y="3960"/>
                    <a:pt x="780" y="3943"/>
                    <a:pt x="810" y="3907"/>
                  </a:cubicBezTo>
                  <a:cubicBezTo>
                    <a:pt x="869" y="3847"/>
                    <a:pt x="869" y="3740"/>
                    <a:pt x="810" y="3681"/>
                  </a:cubicBezTo>
                  <a:cubicBezTo>
                    <a:pt x="488" y="3312"/>
                    <a:pt x="310" y="2800"/>
                    <a:pt x="322" y="2264"/>
                  </a:cubicBezTo>
                  <a:cubicBezTo>
                    <a:pt x="369" y="1228"/>
                    <a:pt x="1215" y="383"/>
                    <a:pt x="2262" y="335"/>
                  </a:cubicBezTo>
                  <a:cubicBezTo>
                    <a:pt x="2297" y="333"/>
                    <a:pt x="2332" y="332"/>
                    <a:pt x="2366" y="332"/>
                  </a:cubicBezTo>
                  <a:cubicBezTo>
                    <a:pt x="3487" y="332"/>
                    <a:pt x="4416" y="1263"/>
                    <a:pt x="4382" y="2407"/>
                  </a:cubicBezTo>
                  <a:cubicBezTo>
                    <a:pt x="4370" y="3478"/>
                    <a:pt x="3489" y="4347"/>
                    <a:pt x="2417" y="4395"/>
                  </a:cubicBezTo>
                  <a:cubicBezTo>
                    <a:pt x="2394" y="4396"/>
                    <a:pt x="2371" y="4396"/>
                    <a:pt x="2348" y="4396"/>
                  </a:cubicBezTo>
                  <a:cubicBezTo>
                    <a:pt x="2003" y="4396"/>
                    <a:pt x="1671" y="4313"/>
                    <a:pt x="1381" y="4157"/>
                  </a:cubicBezTo>
                  <a:cubicBezTo>
                    <a:pt x="1355" y="4141"/>
                    <a:pt x="1323" y="4132"/>
                    <a:pt x="1290" y="4132"/>
                  </a:cubicBezTo>
                  <a:cubicBezTo>
                    <a:pt x="1248" y="4132"/>
                    <a:pt x="1206" y="4147"/>
                    <a:pt x="1179" y="4181"/>
                  </a:cubicBezTo>
                  <a:cubicBezTo>
                    <a:pt x="1108" y="4264"/>
                    <a:pt x="1119" y="4395"/>
                    <a:pt x="1227" y="4443"/>
                  </a:cubicBezTo>
                  <a:cubicBezTo>
                    <a:pt x="1540" y="4615"/>
                    <a:pt x="1902" y="4720"/>
                    <a:pt x="2287" y="4720"/>
                  </a:cubicBezTo>
                  <a:cubicBezTo>
                    <a:pt x="2326" y="4720"/>
                    <a:pt x="2366" y="4719"/>
                    <a:pt x="2405" y="4716"/>
                  </a:cubicBezTo>
                  <a:cubicBezTo>
                    <a:pt x="3655" y="4693"/>
                    <a:pt x="4679" y="3681"/>
                    <a:pt x="4715" y="2442"/>
                  </a:cubicBezTo>
                  <a:cubicBezTo>
                    <a:pt x="4774" y="1095"/>
                    <a:pt x="3690" y="1"/>
                    <a:pt x="23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8115973" y="2440550"/>
              <a:ext cx="80562" cy="80213"/>
            </a:xfrm>
            <a:custGeom>
              <a:rect b="b" l="l" r="r" t="t"/>
              <a:pathLst>
                <a:path extrusionOk="0" h="2526" w="2537">
                  <a:moveTo>
                    <a:pt x="1263" y="1"/>
                  </a:moveTo>
                  <a:cubicBezTo>
                    <a:pt x="572" y="1"/>
                    <a:pt x="1" y="561"/>
                    <a:pt x="1" y="1263"/>
                  </a:cubicBezTo>
                  <a:cubicBezTo>
                    <a:pt x="1" y="1965"/>
                    <a:pt x="572" y="2525"/>
                    <a:pt x="1263" y="2525"/>
                  </a:cubicBezTo>
                  <a:cubicBezTo>
                    <a:pt x="1965" y="2525"/>
                    <a:pt x="2537" y="1965"/>
                    <a:pt x="2537" y="1263"/>
                  </a:cubicBezTo>
                  <a:cubicBezTo>
                    <a:pt x="2537" y="1168"/>
                    <a:pt x="2453" y="1096"/>
                    <a:pt x="2370" y="1096"/>
                  </a:cubicBezTo>
                  <a:cubicBezTo>
                    <a:pt x="2275" y="1096"/>
                    <a:pt x="2203" y="1168"/>
                    <a:pt x="2203" y="1263"/>
                  </a:cubicBezTo>
                  <a:cubicBezTo>
                    <a:pt x="2203" y="1787"/>
                    <a:pt x="1787" y="2204"/>
                    <a:pt x="1263" y="2204"/>
                  </a:cubicBezTo>
                  <a:cubicBezTo>
                    <a:pt x="751" y="2204"/>
                    <a:pt x="334" y="1787"/>
                    <a:pt x="334" y="1263"/>
                  </a:cubicBezTo>
                  <a:cubicBezTo>
                    <a:pt x="334" y="739"/>
                    <a:pt x="751" y="322"/>
                    <a:pt x="1263" y="322"/>
                  </a:cubicBezTo>
                  <a:cubicBezTo>
                    <a:pt x="1358" y="322"/>
                    <a:pt x="1429" y="251"/>
                    <a:pt x="1429" y="156"/>
                  </a:cubicBezTo>
                  <a:cubicBezTo>
                    <a:pt x="1429" y="72"/>
                    <a:pt x="1358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8164749" y="2447377"/>
              <a:ext cx="24610" cy="24610"/>
            </a:xfrm>
            <a:custGeom>
              <a:rect b="b" l="l" r="r" t="t"/>
              <a:pathLst>
                <a:path extrusionOk="0" h="775" w="775">
                  <a:moveTo>
                    <a:pt x="382" y="0"/>
                  </a:moveTo>
                  <a:cubicBezTo>
                    <a:pt x="179" y="0"/>
                    <a:pt x="1" y="179"/>
                    <a:pt x="1" y="393"/>
                  </a:cubicBezTo>
                  <a:cubicBezTo>
                    <a:pt x="1" y="596"/>
                    <a:pt x="179" y="774"/>
                    <a:pt x="382" y="774"/>
                  </a:cubicBezTo>
                  <a:cubicBezTo>
                    <a:pt x="596" y="774"/>
                    <a:pt x="774" y="596"/>
                    <a:pt x="774" y="393"/>
                  </a:cubicBezTo>
                  <a:cubicBezTo>
                    <a:pt x="774" y="179"/>
                    <a:pt x="608" y="0"/>
                    <a:pt x="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2250" lIns="152250" spcFirstLastPara="1" rIns="152250" wrap="square" tIns="15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1"/>
                <a:buFont typeface="Arial"/>
                <a:buNone/>
              </a:pPr>
              <a:r>
                <a:t/>
              </a:r>
              <a:endParaRPr b="0" i="0" sz="2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e743359ec8_0_157" title="Pipeline dato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43" y="1477075"/>
            <a:ext cx="7486904" cy="19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e743359ec8_0_157"/>
          <p:cNvSpPr txBox="1"/>
          <p:nvPr>
            <p:ph type="ctrTitle"/>
          </p:nvPr>
        </p:nvSpPr>
        <p:spPr>
          <a:xfrm>
            <a:off x="816200" y="872875"/>
            <a:ext cx="8140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Pipeline de datos (I): Desde la API al píxel normalizado</a:t>
            </a:r>
            <a:endParaRPr/>
          </a:p>
        </p:txBody>
      </p:sp>
      <p:sp>
        <p:nvSpPr>
          <p:cNvPr id="211" name="Google Shape;211;g3e743359ec8_0_157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e743359ec8_0_157"/>
          <p:cNvSpPr/>
          <p:nvPr/>
        </p:nvSpPr>
        <p:spPr>
          <a:xfrm>
            <a:off x="668275" y="1360375"/>
            <a:ext cx="2788500" cy="75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743359ec8_0_157"/>
          <p:cNvSpPr/>
          <p:nvPr/>
        </p:nvSpPr>
        <p:spPr>
          <a:xfrm>
            <a:off x="668275" y="3509750"/>
            <a:ext cx="2788500" cy="75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743359ec8_0_157"/>
          <p:cNvSpPr/>
          <p:nvPr/>
        </p:nvSpPr>
        <p:spPr>
          <a:xfrm rot="5400000">
            <a:off x="-404375" y="2433725"/>
            <a:ext cx="2224200" cy="78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e743359ec8_0_157"/>
          <p:cNvSpPr/>
          <p:nvPr/>
        </p:nvSpPr>
        <p:spPr>
          <a:xfrm rot="5400000">
            <a:off x="2303725" y="2432225"/>
            <a:ext cx="2224200" cy="81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43359ec8_0_189"/>
          <p:cNvSpPr/>
          <p:nvPr/>
        </p:nvSpPr>
        <p:spPr>
          <a:xfrm>
            <a:off x="299075" y="1923823"/>
            <a:ext cx="3517800" cy="10485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743359ec8_0_189"/>
          <p:cNvSpPr txBox="1"/>
          <p:nvPr>
            <p:ph idx="1" type="subTitle"/>
          </p:nvPr>
        </p:nvSpPr>
        <p:spPr>
          <a:xfrm>
            <a:off x="299075" y="1923813"/>
            <a:ext cx="35178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La solución propuesta a la normalización es una cota inferior por el percentil 1, y una cota superior fija con el valor 3000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22" name="Google Shape;222;g3e743359ec8_0_189"/>
          <p:cNvSpPr txBox="1"/>
          <p:nvPr>
            <p:ph type="ctrTitle"/>
          </p:nvPr>
        </p:nvSpPr>
        <p:spPr>
          <a:xfrm>
            <a:off x="816200" y="872875"/>
            <a:ext cx="81255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Pipeline de datos (I): Desde la API al píxel normalizado</a:t>
            </a:r>
            <a:endParaRPr/>
          </a:p>
        </p:txBody>
      </p:sp>
      <p:sp>
        <p:nvSpPr>
          <p:cNvPr id="223" name="Google Shape;223;g3e743359ec8_0_189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e743359ec8_0_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299" y="2023151"/>
            <a:ext cx="5048701" cy="31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e743359ec8_0_189" title="image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750" y="3078525"/>
            <a:ext cx="1707125" cy="1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e743359ec8_0_189" title="image6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075" y="3078525"/>
            <a:ext cx="1707126" cy="179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e743359ec8_0_173" title="Pipeline dato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43" y="1477075"/>
            <a:ext cx="7486904" cy="19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e743359ec8_0_173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Pipeline de datos (II): Aumento sintético y datasets</a:t>
            </a:r>
            <a:endParaRPr/>
          </a:p>
        </p:txBody>
      </p:sp>
      <p:sp>
        <p:nvSpPr>
          <p:cNvPr id="233" name="Google Shape;233;g3e743359ec8_0_173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e743359ec8_0_173"/>
          <p:cNvSpPr/>
          <p:nvPr/>
        </p:nvSpPr>
        <p:spPr>
          <a:xfrm>
            <a:off x="3374875" y="1360375"/>
            <a:ext cx="5150400" cy="75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743359ec8_0_173"/>
          <p:cNvSpPr/>
          <p:nvPr/>
        </p:nvSpPr>
        <p:spPr>
          <a:xfrm>
            <a:off x="3374875" y="3509750"/>
            <a:ext cx="5150400" cy="75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743359ec8_0_173"/>
          <p:cNvSpPr/>
          <p:nvPr/>
        </p:nvSpPr>
        <p:spPr>
          <a:xfrm rot="5400000">
            <a:off x="7373725" y="2433563"/>
            <a:ext cx="2224200" cy="78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743359ec8_0_173"/>
          <p:cNvSpPr/>
          <p:nvPr/>
        </p:nvSpPr>
        <p:spPr>
          <a:xfrm rot="5400000">
            <a:off x="2303725" y="2432225"/>
            <a:ext cx="2224200" cy="819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e743359ec8_0_173" title="image7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75" y="3386300"/>
            <a:ext cx="1558375" cy="15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743359ec8_0_202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Pipeline de datos (II): Aumento sintético y datasets</a:t>
            </a:r>
            <a:endParaRPr/>
          </a:p>
        </p:txBody>
      </p:sp>
      <p:sp>
        <p:nvSpPr>
          <p:cNvPr id="244" name="Google Shape;244;g3e743359ec8_0_202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e743359ec8_0_202" title="H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637" y="2440761"/>
            <a:ext cx="1386125" cy="13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e743359ec8_0_202" title="L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763" y="2440763"/>
            <a:ext cx="1386125" cy="13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e743359ec8_0_202"/>
          <p:cNvSpPr/>
          <p:nvPr/>
        </p:nvSpPr>
        <p:spPr>
          <a:xfrm>
            <a:off x="6235113" y="3033775"/>
            <a:ext cx="8163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248" name="Google Shape;248;g3e743359ec8_0_202"/>
          <p:cNvSpPr txBox="1"/>
          <p:nvPr>
            <p:ph idx="1" type="subTitle"/>
          </p:nvPr>
        </p:nvSpPr>
        <p:spPr>
          <a:xfrm flipH="1">
            <a:off x="558113" y="2369825"/>
            <a:ext cx="35688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>
                <a:latin typeface="Catamaran"/>
                <a:ea typeface="Catamaran"/>
                <a:cs typeface="Catamaran"/>
                <a:sym typeface="Catamaran"/>
              </a:rPr>
              <a:t>Desenfoque</a:t>
            </a:r>
            <a:r>
              <a:rPr lang="es"/>
              <a:t>: Filtro Gaussiano 5×5 con sigma aleatorio entre 0.5 y 1.5, para simular la atmósfera y las aberraciones de la lente.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b="1" lang="es">
                <a:latin typeface="Catamaran"/>
                <a:ea typeface="Catamaran"/>
                <a:cs typeface="Catamaran"/>
                <a:sym typeface="Catamaran"/>
              </a:rPr>
              <a:t>Submuestreo</a:t>
            </a:r>
            <a:r>
              <a:rPr lang="es"/>
              <a:t>: Interpolación bicúbica para reducir la resolución de 256×256 a 64×64 (factor 4).      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●"/>
            </a:pPr>
            <a:r>
              <a:rPr b="1" lang="es">
                <a:latin typeface="Catamaran"/>
                <a:ea typeface="Catamaran"/>
                <a:cs typeface="Catamaran"/>
                <a:sym typeface="Catamaran"/>
              </a:rPr>
              <a:t>Ruido blanco</a:t>
            </a:r>
            <a:r>
              <a:rPr lang="es"/>
              <a:t>: Ruido Gaussiano aditivo con sigma aleatorio entre 2 y 10.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77165a638_0_12"/>
          <p:cNvSpPr/>
          <p:nvPr/>
        </p:nvSpPr>
        <p:spPr>
          <a:xfrm>
            <a:off x="7405500" y="0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77165a638_0_12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e77165a638_0_12"/>
          <p:cNvSpPr txBox="1"/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chemeClr val="lt1"/>
                </a:solidFill>
              </a:rPr>
              <a:t>EXPERIMENTOS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chemeClr val="lt1"/>
                </a:solidFill>
              </a:rPr>
              <a:t>Y RESULTADOS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6" name="Google Shape;256;g3e77165a638_0_12"/>
          <p:cNvSpPr txBox="1"/>
          <p:nvPr>
            <p:ph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77165a638_0_20"/>
          <p:cNvSpPr txBox="1"/>
          <p:nvPr>
            <p:ph idx="4" type="ctrTitle"/>
          </p:nvPr>
        </p:nvSpPr>
        <p:spPr>
          <a:xfrm>
            <a:off x="6586450" y="202275"/>
            <a:ext cx="2447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Entrenamiento y convergencia</a:t>
            </a:r>
            <a:endParaRPr/>
          </a:p>
        </p:txBody>
      </p:sp>
      <p:sp>
        <p:nvSpPr>
          <p:cNvPr id="262" name="Google Shape;262;g3e77165a638_0_20"/>
          <p:cNvSpPr txBox="1"/>
          <p:nvPr>
            <p:ph idx="1" type="subTitle"/>
          </p:nvPr>
        </p:nvSpPr>
        <p:spPr>
          <a:xfrm>
            <a:off x="4441450" y="1493171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Funcion de perdida L1.</a:t>
            </a:r>
            <a:endParaRPr/>
          </a:p>
        </p:txBody>
      </p:sp>
      <p:sp>
        <p:nvSpPr>
          <p:cNvPr id="263" name="Google Shape;263;g3e77165a638_0_20"/>
          <p:cNvSpPr txBox="1"/>
          <p:nvPr>
            <p:ph idx="2" type="subTitle"/>
          </p:nvPr>
        </p:nvSpPr>
        <p:spPr>
          <a:xfrm>
            <a:off x="4441450" y="3554645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Función</a:t>
            </a:r>
            <a:r>
              <a:rPr lang="es"/>
              <a:t> de </a:t>
            </a:r>
            <a:r>
              <a:rPr lang="es"/>
              <a:t>pérdida</a:t>
            </a:r>
            <a:r>
              <a:rPr lang="es"/>
              <a:t> combinada. L1, perceptual y adversaria.</a:t>
            </a:r>
            <a:endParaRPr/>
          </a:p>
        </p:txBody>
      </p:sp>
      <p:sp>
        <p:nvSpPr>
          <p:cNvPr id="264" name="Google Shape;264;g3e77165a638_0_20"/>
          <p:cNvSpPr txBox="1"/>
          <p:nvPr>
            <p:ph type="ctrTitle"/>
          </p:nvPr>
        </p:nvSpPr>
        <p:spPr>
          <a:xfrm>
            <a:off x="4441450" y="1184571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PSNR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5" name="Google Shape;265;g3e77165a638_0_20"/>
          <p:cNvSpPr txBox="1"/>
          <p:nvPr>
            <p:ph idx="3" type="ctrTitle"/>
          </p:nvPr>
        </p:nvSpPr>
        <p:spPr>
          <a:xfrm>
            <a:off x="4441450" y="3246045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RaSGAN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6" name="Google Shape;266;g3e77165a638_0_20"/>
          <p:cNvSpPr/>
          <p:nvPr/>
        </p:nvSpPr>
        <p:spPr>
          <a:xfrm>
            <a:off x="3899350" y="268813"/>
            <a:ext cx="159300" cy="20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77165a638_0_20"/>
          <p:cNvSpPr/>
          <p:nvPr/>
        </p:nvSpPr>
        <p:spPr>
          <a:xfrm>
            <a:off x="3899350" y="2450388"/>
            <a:ext cx="159300" cy="242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e77165a638_0_20" title="image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8810"/>
            <a:ext cx="3899350" cy="200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e77165a638_0_20" title="image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50379"/>
            <a:ext cx="3899350" cy="2424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e77165a638_0_20" title="image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6450" y="4060050"/>
            <a:ext cx="1675625" cy="782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e77165a638_0_20" title="image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0500" y="2873484"/>
            <a:ext cx="1609675" cy="80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809d6aa99_0_105"/>
          <p:cNvSpPr txBox="1"/>
          <p:nvPr>
            <p:ph idx="4" type="ctrTitle"/>
          </p:nvPr>
        </p:nvSpPr>
        <p:spPr>
          <a:xfrm>
            <a:off x="6586450" y="202275"/>
            <a:ext cx="2447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Entrenamiento y convergencia</a:t>
            </a:r>
            <a:endParaRPr/>
          </a:p>
        </p:txBody>
      </p:sp>
      <p:sp>
        <p:nvSpPr>
          <p:cNvPr id="277" name="Google Shape;277;g3e809d6aa99_0_105"/>
          <p:cNvSpPr txBox="1"/>
          <p:nvPr>
            <p:ph idx="1" type="subTitle"/>
          </p:nvPr>
        </p:nvSpPr>
        <p:spPr>
          <a:xfrm>
            <a:off x="4125750" y="1344096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Evolución de la salida cruda del discriminador para las imágenes generadas (falsas).</a:t>
            </a:r>
            <a:endParaRPr/>
          </a:p>
        </p:txBody>
      </p:sp>
      <p:sp>
        <p:nvSpPr>
          <p:cNvPr id="278" name="Google Shape;278;g3e809d6aa99_0_105"/>
          <p:cNvSpPr txBox="1"/>
          <p:nvPr>
            <p:ph idx="2" type="subTitle"/>
          </p:nvPr>
        </p:nvSpPr>
        <p:spPr>
          <a:xfrm>
            <a:off x="4125750" y="3531545"/>
            <a:ext cx="1818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Evolución de la salida cruda del discriminador para las imágenes originales (reales).</a:t>
            </a:r>
            <a:endParaRPr/>
          </a:p>
        </p:txBody>
      </p:sp>
      <p:sp>
        <p:nvSpPr>
          <p:cNvPr id="279" name="Google Shape;279;g3e809d6aa99_0_105"/>
          <p:cNvSpPr txBox="1"/>
          <p:nvPr>
            <p:ph type="ctrTitle"/>
          </p:nvPr>
        </p:nvSpPr>
        <p:spPr>
          <a:xfrm>
            <a:off x="4125750" y="1035496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D_fake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0" name="Google Shape;280;g3e809d6aa99_0_105"/>
          <p:cNvSpPr txBox="1"/>
          <p:nvPr>
            <p:ph idx="3" type="ctrTitle"/>
          </p:nvPr>
        </p:nvSpPr>
        <p:spPr>
          <a:xfrm>
            <a:off x="4125750" y="3222945"/>
            <a:ext cx="261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D_real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g3e809d6aa99_0_105"/>
          <p:cNvSpPr/>
          <p:nvPr/>
        </p:nvSpPr>
        <p:spPr>
          <a:xfrm>
            <a:off x="3594550" y="212975"/>
            <a:ext cx="159300" cy="219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809d6aa99_0_105"/>
          <p:cNvSpPr/>
          <p:nvPr/>
        </p:nvSpPr>
        <p:spPr>
          <a:xfrm>
            <a:off x="3594550" y="2729925"/>
            <a:ext cx="159300" cy="220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e809d6aa99_0_105" title="imag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29913"/>
            <a:ext cx="3594550" cy="220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e809d6aa99_0_105" title="image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974"/>
            <a:ext cx="3594550" cy="219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77165a638_0_46"/>
          <p:cNvSpPr/>
          <p:nvPr/>
        </p:nvSpPr>
        <p:spPr>
          <a:xfrm>
            <a:off x="-165700" y="2345975"/>
            <a:ext cx="288600" cy="12936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77165a638_0_46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Validación</a:t>
            </a:r>
            <a:r>
              <a:rPr lang="es"/>
              <a:t> de GAN</a:t>
            </a:r>
            <a:endParaRPr/>
          </a:p>
        </p:txBody>
      </p:sp>
      <p:sp>
        <p:nvSpPr>
          <p:cNvPr id="291" name="Google Shape;291;g3e77165a638_0_46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3e77165a638_0_46" title="image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750" y="97850"/>
            <a:ext cx="3334000" cy="49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e77165a638_0_46" title="image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200" y="1709450"/>
            <a:ext cx="3934552" cy="333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e77165a638_0_46"/>
          <p:cNvSpPr/>
          <p:nvPr/>
        </p:nvSpPr>
        <p:spPr>
          <a:xfrm>
            <a:off x="5197400" y="2548650"/>
            <a:ext cx="462000" cy="13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77165a638_0_58"/>
          <p:cNvSpPr/>
          <p:nvPr/>
        </p:nvSpPr>
        <p:spPr>
          <a:xfrm>
            <a:off x="282075" y="1894728"/>
            <a:ext cx="3517800" cy="22917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e77165a638_0_58"/>
          <p:cNvSpPr txBox="1"/>
          <p:nvPr>
            <p:ph idx="1" type="subTitle"/>
          </p:nvPr>
        </p:nvSpPr>
        <p:spPr>
          <a:xfrm>
            <a:off x="282075" y="2178700"/>
            <a:ext cx="35178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Mi modelo PSNR → más exterior en PSNR, SSIM, SAM (fidelidad estructural)  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Mi modelo GAN → más exterior en LPIPS (similitud </a:t>
            </a:r>
            <a:r>
              <a:rPr lang="es" sz="1300">
                <a:solidFill>
                  <a:schemeClr val="lt1"/>
                </a:solidFill>
              </a:rPr>
              <a:t>semántica</a:t>
            </a:r>
            <a:r>
              <a:rPr lang="es" sz="1300">
                <a:solidFill>
                  <a:schemeClr val="lt1"/>
                </a:solidFill>
              </a:rPr>
              <a:t>) pero más interior en fidelidad  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Modelos pre-entrenados → muy interiores (brecha de dominio)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01" name="Google Shape;301;g3e77165a638_0_58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Comparativa cuantitativa</a:t>
            </a:r>
            <a:endParaRPr/>
          </a:p>
        </p:txBody>
      </p:sp>
      <p:sp>
        <p:nvSpPr>
          <p:cNvPr id="302" name="Google Shape;302;g3e77165a638_0_58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e77165a638_0_58" title="image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625" y="1273000"/>
            <a:ext cx="4376326" cy="371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77165a638_0_81"/>
          <p:cNvSpPr/>
          <p:nvPr/>
        </p:nvSpPr>
        <p:spPr>
          <a:xfrm>
            <a:off x="-165700" y="2345975"/>
            <a:ext cx="288600" cy="12936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77165a638_0_81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Comparativa cualitativa</a:t>
            </a:r>
            <a:endParaRPr/>
          </a:p>
        </p:txBody>
      </p:sp>
      <p:sp>
        <p:nvSpPr>
          <p:cNvPr id="310" name="Google Shape;310;g3e77165a638_0_81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e77165a638_0_81" title="image8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125" y="116975"/>
            <a:ext cx="3062651" cy="49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e77165a638_0_81" title="image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300" y="3046275"/>
            <a:ext cx="5536425" cy="198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e77165a638_0_81"/>
          <p:cNvSpPr/>
          <p:nvPr/>
        </p:nvSpPr>
        <p:spPr>
          <a:xfrm>
            <a:off x="816200" y="2042525"/>
            <a:ext cx="3513300" cy="7257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e77165a638_0_81"/>
          <p:cNvSpPr txBox="1"/>
          <p:nvPr>
            <p:ph idx="1" type="subTitle"/>
          </p:nvPr>
        </p:nvSpPr>
        <p:spPr>
          <a:xfrm>
            <a:off x="816200" y="2182478"/>
            <a:ext cx="3513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00" lIns="91300" spcFirstLastPara="1" rIns="91300" wrap="square" tIns="91300">
            <a:noAutofit/>
          </a:bodyPr>
          <a:lstStyle/>
          <a:p>
            <a:pPr indent="-317092" lvl="0" marL="456612" rtl="0"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  <a:buClr>
                <a:schemeClr val="lt1"/>
              </a:buClr>
              <a:buSzPts val="1398"/>
              <a:buChar char="●"/>
            </a:pPr>
            <a:r>
              <a:rPr lang="es" sz="1298">
                <a:solidFill>
                  <a:schemeClr val="lt1"/>
                </a:solidFill>
              </a:rPr>
              <a:t>Alucinación</a:t>
            </a:r>
            <a:r>
              <a:rPr lang="es" sz="1298">
                <a:solidFill>
                  <a:schemeClr val="lt1"/>
                </a:solidFill>
              </a:rPr>
              <a:t> de textura del modelo GAN</a:t>
            </a:r>
            <a:endParaRPr sz="1298">
              <a:solidFill>
                <a:schemeClr val="lt1"/>
              </a:solidFill>
            </a:endParaRPr>
          </a:p>
        </p:txBody>
      </p:sp>
      <p:sp>
        <p:nvSpPr>
          <p:cNvPr id="315" name="Google Shape;315;g3e77165a638_0_81"/>
          <p:cNvSpPr/>
          <p:nvPr/>
        </p:nvSpPr>
        <p:spPr>
          <a:xfrm>
            <a:off x="7863625" y="3657325"/>
            <a:ext cx="807900" cy="609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16" name="Google Shape;316;g3e77165a638_0_81"/>
          <p:cNvSpPr/>
          <p:nvPr/>
        </p:nvSpPr>
        <p:spPr>
          <a:xfrm>
            <a:off x="7863625" y="141950"/>
            <a:ext cx="807900" cy="609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77165a638_0_96"/>
          <p:cNvSpPr/>
          <p:nvPr/>
        </p:nvSpPr>
        <p:spPr>
          <a:xfrm>
            <a:off x="332550" y="1772850"/>
            <a:ext cx="4888200" cy="15978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77165a638_0_96"/>
          <p:cNvSpPr txBox="1"/>
          <p:nvPr>
            <p:ph idx="1" type="subTitle"/>
          </p:nvPr>
        </p:nvSpPr>
        <p:spPr>
          <a:xfrm>
            <a:off x="282050" y="1945125"/>
            <a:ext cx="49386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Las calles no </a:t>
            </a:r>
            <a:r>
              <a:rPr lang="es" sz="1300">
                <a:solidFill>
                  <a:schemeClr val="lt1"/>
                </a:solidFill>
              </a:rPr>
              <a:t>están</a:t>
            </a:r>
            <a:r>
              <a:rPr lang="es" sz="1300">
                <a:solidFill>
                  <a:schemeClr val="lt1"/>
                </a:solidFill>
              </a:rPr>
              <a:t> bien representadas: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HR: 10 m/píxel → un edificio de 20m ocupa 2×2 píxeles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Char char="●"/>
            </a:pPr>
            <a:r>
              <a:rPr lang="es" sz="1300">
                <a:solidFill>
                  <a:schemeClr val="lt1"/>
                </a:solidFill>
              </a:rPr>
              <a:t>LR (x4): 40 m/píxel → un edificio de 20m ocupa 0,5x0,5 píxel → información perdida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23" name="Google Shape;323;g3e77165a638_0_96"/>
          <p:cNvSpPr txBox="1"/>
          <p:nvPr>
            <p:ph type="ctrTitle"/>
          </p:nvPr>
        </p:nvSpPr>
        <p:spPr>
          <a:xfrm>
            <a:off x="816212" y="872875"/>
            <a:ext cx="8016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Comparativa cualitativa</a:t>
            </a:r>
            <a:endParaRPr/>
          </a:p>
        </p:txBody>
      </p:sp>
      <p:sp>
        <p:nvSpPr>
          <p:cNvPr id="324" name="Google Shape;324;g3e77165a638_0_96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e77165a638_0_96" title="image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650" y="126025"/>
            <a:ext cx="3290452" cy="4883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809d6aa99_0_0"/>
          <p:cNvSpPr/>
          <p:nvPr/>
        </p:nvSpPr>
        <p:spPr>
          <a:xfrm>
            <a:off x="7405500" y="0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809d6aa99_0_0"/>
          <p:cNvSpPr/>
          <p:nvPr/>
        </p:nvSpPr>
        <p:spPr>
          <a:xfrm>
            <a:off x="720000" y="540000"/>
            <a:ext cx="3630300" cy="15681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e809d6aa99_0_0"/>
          <p:cNvSpPr txBox="1"/>
          <p:nvPr>
            <p:ph type="ctrTitle"/>
          </p:nvPr>
        </p:nvSpPr>
        <p:spPr>
          <a:xfrm>
            <a:off x="769725" y="1310050"/>
            <a:ext cx="3711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>
                <a:solidFill>
                  <a:schemeClr val="lt1"/>
                </a:solidFill>
              </a:rPr>
              <a:t>CONCLUSIONES Y LÍNEAS FUTURAS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" name="Google Shape;333;g3e809d6aa99_0_0"/>
          <p:cNvSpPr txBox="1"/>
          <p:nvPr>
            <p:ph idx="2" type="title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809d6aa99_0_76"/>
          <p:cNvSpPr/>
          <p:nvPr/>
        </p:nvSpPr>
        <p:spPr>
          <a:xfrm>
            <a:off x="165600" y="1511200"/>
            <a:ext cx="873900" cy="99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7475" lIns="77475" spcFirstLastPara="1" rIns="77475" wrap="square" tIns="7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6"/>
              <a:buFont typeface="Arial"/>
              <a:buNone/>
            </a:pPr>
            <a:r>
              <a:t/>
            </a:r>
            <a:endParaRPr b="0" i="0" sz="11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809d6aa99_0_76"/>
          <p:cNvSpPr/>
          <p:nvPr/>
        </p:nvSpPr>
        <p:spPr>
          <a:xfrm>
            <a:off x="847313" y="566506"/>
            <a:ext cx="2448000" cy="6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7525" lIns="77525" spcFirstLastPara="1" rIns="77525" wrap="square" tIns="77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e809d6aa99_0_76"/>
          <p:cNvSpPr txBox="1"/>
          <p:nvPr>
            <p:ph type="ctrTitle"/>
          </p:nvPr>
        </p:nvSpPr>
        <p:spPr>
          <a:xfrm>
            <a:off x="6357195" y="243975"/>
            <a:ext cx="348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CONCLUSIONES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Y RESUMEN</a:t>
            </a:r>
            <a:endParaRPr/>
          </a:p>
        </p:txBody>
      </p:sp>
      <p:sp>
        <p:nvSpPr>
          <p:cNvPr id="341" name="Google Shape;341;g3e809d6aa99_0_76"/>
          <p:cNvSpPr txBox="1"/>
          <p:nvPr>
            <p:ph type="ctrTitle"/>
          </p:nvPr>
        </p:nvSpPr>
        <p:spPr>
          <a:xfrm>
            <a:off x="1254933" y="688460"/>
            <a:ext cx="1760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25" lIns="77525" spcFirstLastPara="1" rIns="77525" wrap="square" tIns="77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b="0" lang="es" sz="1187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PIPELINE COMPLETA</a:t>
            </a:r>
            <a:endParaRPr b="0" sz="1187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42" name="Google Shape;342;g3e809d6aa99_0_76"/>
          <p:cNvSpPr txBox="1"/>
          <p:nvPr>
            <p:ph type="ctrTitle"/>
          </p:nvPr>
        </p:nvSpPr>
        <p:spPr>
          <a:xfrm>
            <a:off x="435149" y="1808675"/>
            <a:ext cx="334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475" lIns="77475" spcFirstLastPara="1" rIns="77475" wrap="square" tIns="774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4"/>
              <a:buNone/>
            </a:pPr>
            <a:r>
              <a:rPr lang="es" sz="2034">
                <a:solidFill>
                  <a:schemeClr val="lt1"/>
                </a:solidFill>
              </a:rPr>
              <a:t>2</a:t>
            </a:r>
            <a:endParaRPr sz="2034">
              <a:solidFill>
                <a:schemeClr val="lt1"/>
              </a:solidFill>
            </a:endParaRPr>
          </a:p>
        </p:txBody>
      </p:sp>
      <p:sp>
        <p:nvSpPr>
          <p:cNvPr id="343" name="Google Shape;343;g3e809d6aa99_0_76"/>
          <p:cNvSpPr/>
          <p:nvPr/>
        </p:nvSpPr>
        <p:spPr>
          <a:xfrm>
            <a:off x="847937" y="1677839"/>
            <a:ext cx="2446800" cy="6567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77475" lIns="77475" spcFirstLastPara="1" rIns="77475" wrap="square" tIns="7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6"/>
              <a:buFont typeface="Arial"/>
              <a:buNone/>
            </a:pPr>
            <a:r>
              <a:t/>
            </a:r>
            <a:endParaRPr b="0" i="0" sz="11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809d6aa99_0_76"/>
          <p:cNvSpPr txBox="1"/>
          <p:nvPr>
            <p:ph type="ctrTitle"/>
          </p:nvPr>
        </p:nvSpPr>
        <p:spPr>
          <a:xfrm>
            <a:off x="1255375" y="1799750"/>
            <a:ext cx="1870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475" lIns="77475" spcFirstLastPara="1" rIns="77475" wrap="square" tIns="774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4"/>
              <a:buNone/>
            </a:pPr>
            <a:r>
              <a:rPr b="0" lang="es" sz="1186">
                <a:latin typeface="Catamaran Light"/>
                <a:ea typeface="Catamaran Light"/>
                <a:cs typeface="Catamaran Light"/>
                <a:sym typeface="Catamaran Light"/>
              </a:rPr>
              <a:t>DISTORSIÓN PERCEPCIÓN</a:t>
            </a:r>
            <a:endParaRPr b="0" sz="1186"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45" name="Google Shape;345;g3e809d6aa99_0_76"/>
          <p:cNvSpPr/>
          <p:nvPr/>
        </p:nvSpPr>
        <p:spPr>
          <a:xfrm>
            <a:off x="165600" y="400000"/>
            <a:ext cx="873900" cy="9900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77525" lIns="77525" spcFirstLastPara="1" rIns="77525" wrap="square" tIns="77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809d6aa99_0_76"/>
          <p:cNvSpPr txBox="1"/>
          <p:nvPr>
            <p:ph type="ctrTitle"/>
          </p:nvPr>
        </p:nvSpPr>
        <p:spPr>
          <a:xfrm>
            <a:off x="435147" y="688300"/>
            <a:ext cx="334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25" lIns="77525" spcFirstLastPara="1" rIns="77525" wrap="square" tIns="77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lang="es" sz="2035">
                <a:solidFill>
                  <a:schemeClr val="lt1"/>
                </a:solidFill>
              </a:rPr>
              <a:t>1</a:t>
            </a:r>
            <a:endParaRPr sz="2035">
              <a:solidFill>
                <a:schemeClr val="lt1"/>
              </a:solidFill>
            </a:endParaRPr>
          </a:p>
        </p:txBody>
      </p:sp>
      <p:sp>
        <p:nvSpPr>
          <p:cNvPr id="347" name="Google Shape;347;g3e809d6aa99_0_76"/>
          <p:cNvSpPr/>
          <p:nvPr/>
        </p:nvSpPr>
        <p:spPr>
          <a:xfrm>
            <a:off x="165600" y="3900250"/>
            <a:ext cx="873900" cy="99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7475" lIns="77475" spcFirstLastPara="1" rIns="77475" wrap="square" tIns="7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6"/>
              <a:buFont typeface="Arial"/>
              <a:buNone/>
            </a:pPr>
            <a:r>
              <a:t/>
            </a:r>
            <a:endParaRPr b="0" i="0" sz="11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809d6aa99_0_76"/>
          <p:cNvSpPr/>
          <p:nvPr/>
        </p:nvSpPr>
        <p:spPr>
          <a:xfrm>
            <a:off x="847313" y="2955556"/>
            <a:ext cx="2448000" cy="6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7525" lIns="77525" spcFirstLastPara="1" rIns="77525" wrap="square" tIns="77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809d6aa99_0_76"/>
          <p:cNvSpPr txBox="1"/>
          <p:nvPr>
            <p:ph type="ctrTitle"/>
          </p:nvPr>
        </p:nvSpPr>
        <p:spPr>
          <a:xfrm>
            <a:off x="1254933" y="3077510"/>
            <a:ext cx="1760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25" lIns="77525" spcFirstLastPara="1" rIns="77525" wrap="square" tIns="77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b="0" lang="es" sz="1187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BRECHA DE DOMINIO</a:t>
            </a:r>
            <a:endParaRPr b="0" sz="1187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50" name="Google Shape;350;g3e809d6aa99_0_76"/>
          <p:cNvSpPr txBox="1"/>
          <p:nvPr>
            <p:ph type="ctrTitle"/>
          </p:nvPr>
        </p:nvSpPr>
        <p:spPr>
          <a:xfrm>
            <a:off x="435149" y="4197725"/>
            <a:ext cx="334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475" lIns="77475" spcFirstLastPara="1" rIns="77475" wrap="square" tIns="774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4"/>
              <a:buNone/>
            </a:pPr>
            <a:r>
              <a:rPr lang="es" sz="2034">
                <a:solidFill>
                  <a:schemeClr val="lt1"/>
                </a:solidFill>
              </a:rPr>
              <a:t>4</a:t>
            </a:r>
            <a:endParaRPr sz="2034">
              <a:solidFill>
                <a:schemeClr val="lt1"/>
              </a:solidFill>
            </a:endParaRPr>
          </a:p>
        </p:txBody>
      </p:sp>
      <p:sp>
        <p:nvSpPr>
          <p:cNvPr id="351" name="Google Shape;351;g3e809d6aa99_0_76"/>
          <p:cNvSpPr/>
          <p:nvPr/>
        </p:nvSpPr>
        <p:spPr>
          <a:xfrm>
            <a:off x="847937" y="4066889"/>
            <a:ext cx="2446800" cy="656700"/>
          </a:xfrm>
          <a:prstGeom prst="rect">
            <a:avLst/>
          </a:prstGeom>
          <a:solidFill>
            <a:schemeClr val="accent1">
              <a:alpha val="73330"/>
            </a:schemeClr>
          </a:solidFill>
          <a:ln>
            <a:noFill/>
          </a:ln>
        </p:spPr>
        <p:txBody>
          <a:bodyPr anchorCtr="0" anchor="ctr" bIns="77475" lIns="77475" spcFirstLastPara="1" rIns="77475" wrap="square" tIns="7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6"/>
              <a:buFont typeface="Arial"/>
              <a:buNone/>
            </a:pPr>
            <a:r>
              <a:t/>
            </a:r>
            <a:endParaRPr b="0" i="0" sz="11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809d6aa99_0_76"/>
          <p:cNvSpPr txBox="1"/>
          <p:nvPr>
            <p:ph type="ctrTitle"/>
          </p:nvPr>
        </p:nvSpPr>
        <p:spPr>
          <a:xfrm>
            <a:off x="1255380" y="4188794"/>
            <a:ext cx="1759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475" lIns="77475" spcFirstLastPara="1" rIns="77475" wrap="square" tIns="774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4"/>
              <a:buNone/>
            </a:pPr>
            <a:r>
              <a:rPr b="0" lang="es" sz="1186">
                <a:latin typeface="Catamaran Light"/>
                <a:ea typeface="Catamaran Light"/>
                <a:cs typeface="Catamaran Light"/>
                <a:sym typeface="Catamaran Light"/>
              </a:rPr>
              <a:t>SISR</a:t>
            </a:r>
            <a:endParaRPr b="0" sz="1186"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53" name="Google Shape;353;g3e809d6aa99_0_76"/>
          <p:cNvSpPr/>
          <p:nvPr/>
        </p:nvSpPr>
        <p:spPr>
          <a:xfrm>
            <a:off x="165600" y="2789050"/>
            <a:ext cx="873900" cy="990000"/>
          </a:xfrm>
          <a:prstGeom prst="rect">
            <a:avLst/>
          </a:prstGeom>
          <a:solidFill>
            <a:schemeClr val="accent1">
              <a:alpha val="61960"/>
            </a:schemeClr>
          </a:solidFill>
          <a:ln>
            <a:noFill/>
          </a:ln>
        </p:spPr>
        <p:txBody>
          <a:bodyPr anchorCtr="0" anchor="ctr" bIns="77525" lIns="77525" spcFirstLastPara="1" rIns="77525" wrap="square" tIns="77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809d6aa99_0_76"/>
          <p:cNvSpPr txBox="1"/>
          <p:nvPr>
            <p:ph type="ctrTitle"/>
          </p:nvPr>
        </p:nvSpPr>
        <p:spPr>
          <a:xfrm>
            <a:off x="435147" y="3077350"/>
            <a:ext cx="334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25" lIns="77525" spcFirstLastPara="1" rIns="77525" wrap="square" tIns="77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5"/>
              <a:buNone/>
            </a:pPr>
            <a:r>
              <a:rPr lang="es" sz="2035">
                <a:solidFill>
                  <a:schemeClr val="lt1"/>
                </a:solidFill>
              </a:rPr>
              <a:t>3</a:t>
            </a:r>
            <a:endParaRPr sz="2035">
              <a:solidFill>
                <a:schemeClr val="lt1"/>
              </a:solidFill>
            </a:endParaRPr>
          </a:p>
        </p:txBody>
      </p:sp>
      <p:sp>
        <p:nvSpPr>
          <p:cNvPr id="355" name="Google Shape;355;g3e809d6aa99_0_76"/>
          <p:cNvSpPr txBox="1"/>
          <p:nvPr>
            <p:ph idx="4294967295" type="subTitle"/>
          </p:nvPr>
        </p:nvSpPr>
        <p:spPr>
          <a:xfrm flipH="1">
            <a:off x="3434764" y="566650"/>
            <a:ext cx="2761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Se ha automatizado la adquisición, normalización, aumento y degradación de los datos. El sistema es escalable y reproducible. Listo para el salto.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6" name="Google Shape;356;g3e809d6aa99_0_76"/>
          <p:cNvSpPr txBox="1"/>
          <p:nvPr>
            <p:ph idx="4294967295" type="subTitle"/>
          </p:nvPr>
        </p:nvSpPr>
        <p:spPr>
          <a:xfrm flipH="1">
            <a:off x="3434764" y="1686875"/>
            <a:ext cx="2761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100"/>
              <a:t>El modelo PSNR maximiza fidelidad estructural (PSNR, SSIM, SAM), mientras que el GAN gana en realismo perceptual (LPIPS) pero introduce alucinaciones graves.</a:t>
            </a:r>
            <a:endParaRPr/>
          </a:p>
        </p:txBody>
      </p:sp>
      <p:sp>
        <p:nvSpPr>
          <p:cNvPr id="357" name="Google Shape;357;g3e809d6aa99_0_76"/>
          <p:cNvSpPr txBox="1"/>
          <p:nvPr>
            <p:ph idx="4294967295" type="subTitle"/>
          </p:nvPr>
        </p:nvSpPr>
        <p:spPr>
          <a:xfrm flipH="1">
            <a:off x="3434764" y="2955550"/>
            <a:ext cx="2761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Los modelos pre-entrenados con imágenes naturales fracasan en satélite; el fine-tuning mejora el PSNR en ~1,3 dB y el LPIPS en ~0,056 respectivamente.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8" name="Google Shape;358;g3e809d6aa99_0_76"/>
          <p:cNvSpPr txBox="1"/>
          <p:nvPr>
            <p:ph idx="4294967295" type="subTitle"/>
          </p:nvPr>
        </p:nvSpPr>
        <p:spPr>
          <a:xfrm flipH="1">
            <a:off x="3434764" y="4075925"/>
            <a:ext cx="2761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100"/>
              <a:t>Como l</a:t>
            </a:r>
            <a:r>
              <a:rPr lang="es" sz="1100"/>
              <a:t>a superresolución de una sola imagen es un problema matemáticamente mal planteado, SISR es útil para visualización, pero no para medición científica.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809d6aa99_0_8"/>
          <p:cNvSpPr txBox="1"/>
          <p:nvPr>
            <p:ph idx="6" type="ctrTitle"/>
          </p:nvPr>
        </p:nvSpPr>
        <p:spPr>
          <a:xfrm rot="-842">
            <a:off x="659980" y="395252"/>
            <a:ext cx="7347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LÍNEAS FUTURAS Y PREGUNTAS</a:t>
            </a:r>
            <a:endParaRPr/>
          </a:p>
        </p:txBody>
      </p:sp>
      <p:sp>
        <p:nvSpPr>
          <p:cNvPr id="364" name="Google Shape;364;g3e809d6aa99_0_8"/>
          <p:cNvSpPr txBox="1"/>
          <p:nvPr>
            <p:ph idx="1" type="subTitle"/>
          </p:nvPr>
        </p:nvSpPr>
        <p:spPr>
          <a:xfrm>
            <a:off x="659988" y="3195725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Implementar una normalización no lineal en el preprocesamiento.</a:t>
            </a:r>
            <a:endParaRPr/>
          </a:p>
        </p:txBody>
      </p:sp>
      <p:sp>
        <p:nvSpPr>
          <p:cNvPr id="365" name="Google Shape;365;g3e809d6aa99_0_8"/>
          <p:cNvSpPr txBox="1"/>
          <p:nvPr>
            <p:ph idx="3" type="subTitle"/>
          </p:nvPr>
        </p:nvSpPr>
        <p:spPr>
          <a:xfrm>
            <a:off x="2614263" y="3195725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Investigar funciones de pérdida alternativas a RaSGAN, para solucionar la deriva de logits.</a:t>
            </a:r>
            <a:endParaRPr/>
          </a:p>
        </p:txBody>
      </p:sp>
      <p:sp>
        <p:nvSpPr>
          <p:cNvPr id="366" name="Google Shape;366;g3e809d6aa99_0_8"/>
          <p:cNvSpPr txBox="1"/>
          <p:nvPr>
            <p:ph idx="5" type="subTitle"/>
          </p:nvPr>
        </p:nvSpPr>
        <p:spPr>
          <a:xfrm>
            <a:off x="5137988" y="3195725"/>
            <a:ext cx="1648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Generar un dataset exclusivo de zonas urbanas con objetivo de especializar los modelos.</a:t>
            </a:r>
            <a:endParaRPr/>
          </a:p>
        </p:txBody>
      </p:sp>
      <p:sp>
        <p:nvSpPr>
          <p:cNvPr id="367" name="Google Shape;367;g3e809d6aa99_0_8"/>
          <p:cNvSpPr txBox="1"/>
          <p:nvPr>
            <p:ph idx="2" type="ctrTitle"/>
          </p:nvPr>
        </p:nvSpPr>
        <p:spPr>
          <a:xfrm>
            <a:off x="2654273" y="2703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Estabilidad adversaria</a:t>
            </a:r>
            <a:endParaRPr/>
          </a:p>
        </p:txBody>
      </p:sp>
      <p:sp>
        <p:nvSpPr>
          <p:cNvPr id="368" name="Google Shape;368;g3e809d6aa99_0_8"/>
          <p:cNvSpPr txBox="1"/>
          <p:nvPr>
            <p:ph idx="4" type="ctrTitle"/>
          </p:nvPr>
        </p:nvSpPr>
        <p:spPr>
          <a:xfrm>
            <a:off x="4898019" y="2703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Especialización urbana</a:t>
            </a:r>
            <a:endParaRPr/>
          </a:p>
        </p:txBody>
      </p:sp>
      <p:sp>
        <p:nvSpPr>
          <p:cNvPr id="369" name="Google Shape;369;g3e809d6aa99_0_8"/>
          <p:cNvSpPr txBox="1"/>
          <p:nvPr>
            <p:ph type="ctrTitle"/>
          </p:nvPr>
        </p:nvSpPr>
        <p:spPr>
          <a:xfrm>
            <a:off x="659985" y="270341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Rango dinámico</a:t>
            </a:r>
            <a:endParaRPr/>
          </a:p>
        </p:txBody>
      </p:sp>
      <p:sp>
        <p:nvSpPr>
          <p:cNvPr id="370" name="Google Shape;370;g3e809d6aa99_0_8"/>
          <p:cNvSpPr/>
          <p:nvPr/>
        </p:nvSpPr>
        <p:spPr>
          <a:xfrm>
            <a:off x="762163" y="2230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e809d6aa99_0_8"/>
          <p:cNvSpPr/>
          <p:nvPr/>
        </p:nvSpPr>
        <p:spPr>
          <a:xfrm>
            <a:off x="3359729" y="2230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809d6aa99_0_8"/>
          <p:cNvSpPr/>
          <p:nvPr/>
        </p:nvSpPr>
        <p:spPr>
          <a:xfrm>
            <a:off x="5732576" y="2230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e809d6aa99_0_8"/>
          <p:cNvSpPr/>
          <p:nvPr/>
        </p:nvSpPr>
        <p:spPr>
          <a:xfrm>
            <a:off x="7915463" y="2230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809d6aa99_0_8"/>
          <p:cNvSpPr/>
          <p:nvPr/>
        </p:nvSpPr>
        <p:spPr>
          <a:xfrm>
            <a:off x="3409721" y="2280282"/>
            <a:ext cx="359015" cy="358442"/>
          </a:xfrm>
          <a:custGeom>
            <a:rect b="b" l="l" r="r" t="t"/>
            <a:pathLst>
              <a:path extrusionOk="0" h="11270" w="11288">
                <a:moveTo>
                  <a:pt x="6049" y="351"/>
                </a:moveTo>
                <a:lnTo>
                  <a:pt x="6049" y="1149"/>
                </a:lnTo>
                <a:lnTo>
                  <a:pt x="5239" y="1149"/>
                </a:lnTo>
                <a:lnTo>
                  <a:pt x="5239" y="351"/>
                </a:lnTo>
                <a:close/>
                <a:moveTo>
                  <a:pt x="1167" y="5828"/>
                </a:moveTo>
                <a:lnTo>
                  <a:pt x="1167" y="6650"/>
                </a:lnTo>
                <a:lnTo>
                  <a:pt x="345" y="6650"/>
                </a:lnTo>
                <a:lnTo>
                  <a:pt x="345" y="5828"/>
                </a:lnTo>
                <a:close/>
                <a:moveTo>
                  <a:pt x="10954" y="5828"/>
                </a:moveTo>
                <a:lnTo>
                  <a:pt x="10954" y="6650"/>
                </a:lnTo>
                <a:lnTo>
                  <a:pt x="10132" y="6650"/>
                </a:lnTo>
                <a:lnTo>
                  <a:pt x="10132" y="5828"/>
                </a:lnTo>
                <a:close/>
                <a:moveTo>
                  <a:pt x="1442" y="0"/>
                </a:moveTo>
                <a:cubicBezTo>
                  <a:pt x="1273" y="0"/>
                  <a:pt x="1100" y="58"/>
                  <a:pt x="953" y="185"/>
                </a:cubicBezTo>
                <a:cubicBezTo>
                  <a:pt x="726" y="375"/>
                  <a:pt x="643" y="709"/>
                  <a:pt x="726" y="971"/>
                </a:cubicBezTo>
                <a:cubicBezTo>
                  <a:pt x="755" y="1047"/>
                  <a:pt x="814" y="1085"/>
                  <a:pt x="885" y="1085"/>
                </a:cubicBezTo>
                <a:cubicBezTo>
                  <a:pt x="903" y="1085"/>
                  <a:pt x="922" y="1082"/>
                  <a:pt x="941" y="1078"/>
                </a:cubicBezTo>
                <a:cubicBezTo>
                  <a:pt x="1024" y="1042"/>
                  <a:pt x="1072" y="959"/>
                  <a:pt x="1036" y="863"/>
                </a:cubicBezTo>
                <a:cubicBezTo>
                  <a:pt x="953" y="601"/>
                  <a:pt x="1143" y="328"/>
                  <a:pt x="1429" y="328"/>
                </a:cubicBezTo>
                <a:cubicBezTo>
                  <a:pt x="1798" y="328"/>
                  <a:pt x="1977" y="792"/>
                  <a:pt x="1691" y="1042"/>
                </a:cubicBezTo>
                <a:cubicBezTo>
                  <a:pt x="1631" y="1112"/>
                  <a:pt x="1545" y="1140"/>
                  <a:pt x="1463" y="1140"/>
                </a:cubicBezTo>
                <a:cubicBezTo>
                  <a:pt x="1447" y="1140"/>
                  <a:pt x="1432" y="1139"/>
                  <a:pt x="1417" y="1137"/>
                </a:cubicBezTo>
                <a:cubicBezTo>
                  <a:pt x="1322" y="1137"/>
                  <a:pt x="1238" y="1197"/>
                  <a:pt x="1238" y="1280"/>
                </a:cubicBezTo>
                <a:cubicBezTo>
                  <a:pt x="1238" y="1375"/>
                  <a:pt x="1298" y="1459"/>
                  <a:pt x="1381" y="1459"/>
                </a:cubicBezTo>
                <a:cubicBezTo>
                  <a:pt x="1409" y="1462"/>
                  <a:pt x="1436" y="1464"/>
                  <a:pt x="1463" y="1464"/>
                </a:cubicBezTo>
                <a:cubicBezTo>
                  <a:pt x="1628" y="1464"/>
                  <a:pt x="1795" y="1403"/>
                  <a:pt x="1917" y="1280"/>
                </a:cubicBezTo>
                <a:cubicBezTo>
                  <a:pt x="2036" y="1185"/>
                  <a:pt x="2131" y="1042"/>
                  <a:pt x="2155" y="899"/>
                </a:cubicBezTo>
                <a:lnTo>
                  <a:pt x="3822" y="899"/>
                </a:lnTo>
                <a:cubicBezTo>
                  <a:pt x="3167" y="1149"/>
                  <a:pt x="2572" y="1542"/>
                  <a:pt x="2072" y="2042"/>
                </a:cubicBezTo>
                <a:cubicBezTo>
                  <a:pt x="1143" y="2971"/>
                  <a:pt x="619" y="4173"/>
                  <a:pt x="595" y="5471"/>
                </a:cubicBezTo>
                <a:lnTo>
                  <a:pt x="167" y="5471"/>
                </a:lnTo>
                <a:cubicBezTo>
                  <a:pt x="72" y="5471"/>
                  <a:pt x="0" y="5543"/>
                  <a:pt x="0" y="5626"/>
                </a:cubicBezTo>
                <a:lnTo>
                  <a:pt x="0" y="6793"/>
                </a:lnTo>
                <a:cubicBezTo>
                  <a:pt x="0" y="6876"/>
                  <a:pt x="72" y="6959"/>
                  <a:pt x="167" y="6959"/>
                </a:cubicBezTo>
                <a:lnTo>
                  <a:pt x="1322" y="6959"/>
                </a:lnTo>
                <a:cubicBezTo>
                  <a:pt x="1417" y="6959"/>
                  <a:pt x="1488" y="6876"/>
                  <a:pt x="1488" y="6793"/>
                </a:cubicBezTo>
                <a:lnTo>
                  <a:pt x="1488" y="5626"/>
                </a:lnTo>
                <a:cubicBezTo>
                  <a:pt x="1488" y="5543"/>
                  <a:pt x="1417" y="5471"/>
                  <a:pt x="1322" y="5471"/>
                </a:cubicBezTo>
                <a:lnTo>
                  <a:pt x="941" y="5471"/>
                </a:lnTo>
                <a:cubicBezTo>
                  <a:pt x="1012" y="3185"/>
                  <a:pt x="2703" y="1304"/>
                  <a:pt x="4906" y="959"/>
                </a:cubicBezTo>
                <a:lnTo>
                  <a:pt x="4906" y="1304"/>
                </a:lnTo>
                <a:cubicBezTo>
                  <a:pt x="4906" y="1387"/>
                  <a:pt x="4989" y="1459"/>
                  <a:pt x="5072" y="1459"/>
                </a:cubicBezTo>
                <a:lnTo>
                  <a:pt x="5406" y="1459"/>
                </a:lnTo>
                <a:cubicBezTo>
                  <a:pt x="5227" y="1518"/>
                  <a:pt x="5072" y="1661"/>
                  <a:pt x="5001" y="1852"/>
                </a:cubicBezTo>
                <a:lnTo>
                  <a:pt x="3513" y="5269"/>
                </a:lnTo>
                <a:cubicBezTo>
                  <a:pt x="3382" y="5566"/>
                  <a:pt x="3322" y="5888"/>
                  <a:pt x="3322" y="6197"/>
                </a:cubicBezTo>
                <a:cubicBezTo>
                  <a:pt x="3322" y="6793"/>
                  <a:pt x="3548" y="7340"/>
                  <a:pt x="3941" y="7793"/>
                </a:cubicBezTo>
                <a:cubicBezTo>
                  <a:pt x="3977" y="7817"/>
                  <a:pt x="4001" y="7852"/>
                  <a:pt x="4036" y="7900"/>
                </a:cubicBezTo>
                <a:lnTo>
                  <a:pt x="3643" y="7900"/>
                </a:lnTo>
                <a:cubicBezTo>
                  <a:pt x="3429" y="7900"/>
                  <a:pt x="3215" y="8031"/>
                  <a:pt x="3132" y="8233"/>
                </a:cubicBezTo>
                <a:cubicBezTo>
                  <a:pt x="3096" y="8329"/>
                  <a:pt x="3132" y="8412"/>
                  <a:pt x="3215" y="8460"/>
                </a:cubicBezTo>
                <a:cubicBezTo>
                  <a:pt x="3240" y="8469"/>
                  <a:pt x="3264" y="8473"/>
                  <a:pt x="3287" y="8473"/>
                </a:cubicBezTo>
                <a:cubicBezTo>
                  <a:pt x="3351" y="8473"/>
                  <a:pt x="3406" y="8438"/>
                  <a:pt x="3441" y="8376"/>
                </a:cubicBezTo>
                <a:cubicBezTo>
                  <a:pt x="3465" y="8281"/>
                  <a:pt x="3560" y="8221"/>
                  <a:pt x="3667" y="8221"/>
                </a:cubicBezTo>
                <a:lnTo>
                  <a:pt x="7632" y="8221"/>
                </a:lnTo>
                <a:cubicBezTo>
                  <a:pt x="7775" y="8221"/>
                  <a:pt x="7870" y="8329"/>
                  <a:pt x="7870" y="8460"/>
                </a:cubicBezTo>
                <a:lnTo>
                  <a:pt x="7870" y="9043"/>
                </a:lnTo>
                <a:cubicBezTo>
                  <a:pt x="7870" y="9174"/>
                  <a:pt x="7775" y="9281"/>
                  <a:pt x="7632" y="9281"/>
                </a:cubicBezTo>
                <a:lnTo>
                  <a:pt x="3632" y="9281"/>
                </a:lnTo>
                <a:cubicBezTo>
                  <a:pt x="3501" y="9281"/>
                  <a:pt x="3393" y="9174"/>
                  <a:pt x="3393" y="9043"/>
                </a:cubicBezTo>
                <a:lnTo>
                  <a:pt x="3393" y="8972"/>
                </a:lnTo>
                <a:cubicBezTo>
                  <a:pt x="3393" y="8876"/>
                  <a:pt x="3322" y="8805"/>
                  <a:pt x="3227" y="8805"/>
                </a:cubicBezTo>
                <a:cubicBezTo>
                  <a:pt x="3143" y="8805"/>
                  <a:pt x="3072" y="8876"/>
                  <a:pt x="3072" y="8972"/>
                </a:cubicBezTo>
                <a:lnTo>
                  <a:pt x="3072" y="9043"/>
                </a:lnTo>
                <a:cubicBezTo>
                  <a:pt x="3072" y="9353"/>
                  <a:pt x="3322" y="9603"/>
                  <a:pt x="3632" y="9603"/>
                </a:cubicBezTo>
                <a:lnTo>
                  <a:pt x="3691" y="9603"/>
                </a:lnTo>
                <a:lnTo>
                  <a:pt x="3691" y="11103"/>
                </a:lnTo>
                <a:cubicBezTo>
                  <a:pt x="3691" y="11198"/>
                  <a:pt x="3763" y="11269"/>
                  <a:pt x="3858" y="11269"/>
                </a:cubicBezTo>
                <a:lnTo>
                  <a:pt x="7382" y="11269"/>
                </a:lnTo>
                <a:cubicBezTo>
                  <a:pt x="7477" y="11269"/>
                  <a:pt x="7549" y="11198"/>
                  <a:pt x="7549" y="11103"/>
                </a:cubicBezTo>
                <a:lnTo>
                  <a:pt x="7549" y="10710"/>
                </a:lnTo>
                <a:cubicBezTo>
                  <a:pt x="7549" y="10615"/>
                  <a:pt x="7477" y="10543"/>
                  <a:pt x="7382" y="10543"/>
                </a:cubicBezTo>
                <a:cubicBezTo>
                  <a:pt x="7299" y="10543"/>
                  <a:pt x="7215" y="10615"/>
                  <a:pt x="7215" y="10710"/>
                </a:cubicBezTo>
                <a:lnTo>
                  <a:pt x="7215" y="10948"/>
                </a:lnTo>
                <a:lnTo>
                  <a:pt x="4024" y="10948"/>
                </a:lnTo>
                <a:lnTo>
                  <a:pt x="4024" y="9603"/>
                </a:lnTo>
                <a:lnTo>
                  <a:pt x="7215" y="9603"/>
                </a:lnTo>
                <a:lnTo>
                  <a:pt x="7215" y="10031"/>
                </a:lnTo>
                <a:cubicBezTo>
                  <a:pt x="7215" y="10126"/>
                  <a:pt x="7299" y="10198"/>
                  <a:pt x="7382" y="10198"/>
                </a:cubicBezTo>
                <a:cubicBezTo>
                  <a:pt x="7477" y="10198"/>
                  <a:pt x="7549" y="10126"/>
                  <a:pt x="7549" y="10031"/>
                </a:cubicBezTo>
                <a:lnTo>
                  <a:pt x="7549" y="9603"/>
                </a:lnTo>
                <a:lnTo>
                  <a:pt x="7608" y="9603"/>
                </a:lnTo>
                <a:cubicBezTo>
                  <a:pt x="7918" y="9603"/>
                  <a:pt x="8168" y="9353"/>
                  <a:pt x="8168" y="9043"/>
                </a:cubicBezTo>
                <a:lnTo>
                  <a:pt x="8168" y="8460"/>
                </a:lnTo>
                <a:cubicBezTo>
                  <a:pt x="8168" y="8150"/>
                  <a:pt x="7918" y="7900"/>
                  <a:pt x="7608" y="7900"/>
                </a:cubicBezTo>
                <a:lnTo>
                  <a:pt x="7239" y="7900"/>
                </a:lnTo>
                <a:cubicBezTo>
                  <a:pt x="7453" y="7686"/>
                  <a:pt x="7632" y="7436"/>
                  <a:pt x="7751" y="7150"/>
                </a:cubicBezTo>
                <a:cubicBezTo>
                  <a:pt x="7799" y="7067"/>
                  <a:pt x="7751" y="6971"/>
                  <a:pt x="7668" y="6924"/>
                </a:cubicBezTo>
                <a:cubicBezTo>
                  <a:pt x="7643" y="6915"/>
                  <a:pt x="7620" y="6910"/>
                  <a:pt x="7598" y="6910"/>
                </a:cubicBezTo>
                <a:cubicBezTo>
                  <a:pt x="7532" y="6910"/>
                  <a:pt x="7477" y="6948"/>
                  <a:pt x="7442" y="7019"/>
                </a:cubicBezTo>
                <a:cubicBezTo>
                  <a:pt x="7275" y="7388"/>
                  <a:pt x="7013" y="7686"/>
                  <a:pt x="6680" y="7900"/>
                </a:cubicBezTo>
                <a:lnTo>
                  <a:pt x="4572" y="7900"/>
                </a:lnTo>
                <a:cubicBezTo>
                  <a:pt x="4001" y="7555"/>
                  <a:pt x="3632" y="6912"/>
                  <a:pt x="3632" y="6209"/>
                </a:cubicBezTo>
                <a:cubicBezTo>
                  <a:pt x="3632" y="5947"/>
                  <a:pt x="3691" y="5674"/>
                  <a:pt x="3798" y="5423"/>
                </a:cubicBezTo>
                <a:lnTo>
                  <a:pt x="5287" y="2006"/>
                </a:lnTo>
                <a:cubicBezTo>
                  <a:pt x="5310" y="1911"/>
                  <a:pt x="5370" y="1852"/>
                  <a:pt x="5453" y="1828"/>
                </a:cubicBezTo>
                <a:lnTo>
                  <a:pt x="5453" y="5114"/>
                </a:lnTo>
                <a:cubicBezTo>
                  <a:pt x="5072" y="5173"/>
                  <a:pt x="4775" y="5423"/>
                  <a:pt x="4656" y="5781"/>
                </a:cubicBezTo>
                <a:cubicBezTo>
                  <a:pt x="4632" y="5876"/>
                  <a:pt x="4679" y="5959"/>
                  <a:pt x="4763" y="5995"/>
                </a:cubicBezTo>
                <a:cubicBezTo>
                  <a:pt x="4779" y="5999"/>
                  <a:pt x="4795" y="6001"/>
                  <a:pt x="4811" y="6001"/>
                </a:cubicBezTo>
                <a:cubicBezTo>
                  <a:pt x="4886" y="6001"/>
                  <a:pt x="4947" y="5957"/>
                  <a:pt x="4977" y="5888"/>
                </a:cubicBezTo>
                <a:cubicBezTo>
                  <a:pt x="5085" y="5573"/>
                  <a:pt x="5349" y="5427"/>
                  <a:pt x="5614" y="5427"/>
                </a:cubicBezTo>
                <a:cubicBezTo>
                  <a:pt x="5930" y="5427"/>
                  <a:pt x="6247" y="5636"/>
                  <a:pt x="6299" y="6019"/>
                </a:cubicBezTo>
                <a:lnTo>
                  <a:pt x="6299" y="6114"/>
                </a:lnTo>
                <a:cubicBezTo>
                  <a:pt x="6299" y="6537"/>
                  <a:pt x="5951" y="6795"/>
                  <a:pt x="5605" y="6795"/>
                </a:cubicBezTo>
                <a:cubicBezTo>
                  <a:pt x="5356" y="6795"/>
                  <a:pt x="5108" y="6662"/>
                  <a:pt x="4989" y="6364"/>
                </a:cubicBezTo>
                <a:cubicBezTo>
                  <a:pt x="4962" y="6293"/>
                  <a:pt x="4903" y="6255"/>
                  <a:pt x="4835" y="6255"/>
                </a:cubicBezTo>
                <a:cubicBezTo>
                  <a:pt x="4811" y="6255"/>
                  <a:pt x="4787" y="6260"/>
                  <a:pt x="4763" y="6269"/>
                </a:cubicBezTo>
                <a:cubicBezTo>
                  <a:pt x="4679" y="6305"/>
                  <a:pt x="4632" y="6412"/>
                  <a:pt x="4679" y="6495"/>
                </a:cubicBezTo>
                <a:cubicBezTo>
                  <a:pt x="4810" y="6805"/>
                  <a:pt x="5072" y="7043"/>
                  <a:pt x="5418" y="7126"/>
                </a:cubicBezTo>
                <a:cubicBezTo>
                  <a:pt x="5483" y="7138"/>
                  <a:pt x="5548" y="7144"/>
                  <a:pt x="5612" y="7144"/>
                </a:cubicBezTo>
                <a:cubicBezTo>
                  <a:pt x="6166" y="7144"/>
                  <a:pt x="6644" y="6702"/>
                  <a:pt x="6644" y="6126"/>
                </a:cubicBezTo>
                <a:cubicBezTo>
                  <a:pt x="6644" y="5590"/>
                  <a:pt x="6239" y="5197"/>
                  <a:pt x="5787" y="5126"/>
                </a:cubicBezTo>
                <a:lnTo>
                  <a:pt x="5787" y="1840"/>
                </a:lnTo>
                <a:cubicBezTo>
                  <a:pt x="5870" y="1864"/>
                  <a:pt x="5929" y="1947"/>
                  <a:pt x="5953" y="2018"/>
                </a:cubicBezTo>
                <a:lnTo>
                  <a:pt x="7442" y="5459"/>
                </a:lnTo>
                <a:cubicBezTo>
                  <a:pt x="7573" y="5769"/>
                  <a:pt x="7632" y="6114"/>
                  <a:pt x="7596" y="6447"/>
                </a:cubicBezTo>
                <a:cubicBezTo>
                  <a:pt x="7573" y="6543"/>
                  <a:pt x="7656" y="6626"/>
                  <a:pt x="7739" y="6626"/>
                </a:cubicBezTo>
                <a:cubicBezTo>
                  <a:pt x="7750" y="6629"/>
                  <a:pt x="7762" y="6630"/>
                  <a:pt x="7772" y="6630"/>
                </a:cubicBezTo>
                <a:cubicBezTo>
                  <a:pt x="7853" y="6630"/>
                  <a:pt x="7918" y="6557"/>
                  <a:pt x="7918" y="6483"/>
                </a:cubicBezTo>
                <a:cubicBezTo>
                  <a:pt x="7965" y="6090"/>
                  <a:pt x="7906" y="5697"/>
                  <a:pt x="7739" y="5316"/>
                </a:cubicBezTo>
                <a:lnTo>
                  <a:pt x="6251" y="1887"/>
                </a:lnTo>
                <a:cubicBezTo>
                  <a:pt x="6180" y="1709"/>
                  <a:pt x="6025" y="1566"/>
                  <a:pt x="5846" y="1494"/>
                </a:cubicBezTo>
                <a:lnTo>
                  <a:pt x="6180" y="1494"/>
                </a:lnTo>
                <a:cubicBezTo>
                  <a:pt x="6263" y="1494"/>
                  <a:pt x="6346" y="1423"/>
                  <a:pt x="6346" y="1328"/>
                </a:cubicBezTo>
                <a:lnTo>
                  <a:pt x="6346" y="994"/>
                </a:lnTo>
                <a:cubicBezTo>
                  <a:pt x="8549" y="1328"/>
                  <a:pt x="10240" y="3221"/>
                  <a:pt x="10311" y="5495"/>
                </a:cubicBezTo>
                <a:lnTo>
                  <a:pt x="9930" y="5495"/>
                </a:lnTo>
                <a:cubicBezTo>
                  <a:pt x="9835" y="5495"/>
                  <a:pt x="9763" y="5578"/>
                  <a:pt x="9763" y="5662"/>
                </a:cubicBezTo>
                <a:lnTo>
                  <a:pt x="9763" y="6828"/>
                </a:lnTo>
                <a:cubicBezTo>
                  <a:pt x="9763" y="6912"/>
                  <a:pt x="9835" y="6983"/>
                  <a:pt x="9930" y="6983"/>
                </a:cubicBezTo>
                <a:lnTo>
                  <a:pt x="11085" y="6983"/>
                </a:lnTo>
                <a:cubicBezTo>
                  <a:pt x="11180" y="6983"/>
                  <a:pt x="11252" y="6912"/>
                  <a:pt x="11252" y="6828"/>
                </a:cubicBezTo>
                <a:lnTo>
                  <a:pt x="11252" y="5662"/>
                </a:lnTo>
                <a:cubicBezTo>
                  <a:pt x="11287" y="5554"/>
                  <a:pt x="11204" y="5483"/>
                  <a:pt x="11121" y="5483"/>
                </a:cubicBezTo>
                <a:lnTo>
                  <a:pt x="10692" y="5483"/>
                </a:lnTo>
                <a:cubicBezTo>
                  <a:pt x="10656" y="4185"/>
                  <a:pt x="10132" y="2983"/>
                  <a:pt x="9216" y="2054"/>
                </a:cubicBezTo>
                <a:cubicBezTo>
                  <a:pt x="8704" y="1554"/>
                  <a:pt x="8108" y="1161"/>
                  <a:pt x="7453" y="911"/>
                </a:cubicBezTo>
                <a:lnTo>
                  <a:pt x="9120" y="911"/>
                </a:lnTo>
                <a:cubicBezTo>
                  <a:pt x="9204" y="1244"/>
                  <a:pt x="9501" y="1483"/>
                  <a:pt x="9835" y="1483"/>
                </a:cubicBezTo>
                <a:cubicBezTo>
                  <a:pt x="10240" y="1483"/>
                  <a:pt x="10585" y="1149"/>
                  <a:pt x="10585" y="732"/>
                </a:cubicBezTo>
                <a:cubicBezTo>
                  <a:pt x="10585" y="447"/>
                  <a:pt x="10418" y="197"/>
                  <a:pt x="10180" y="78"/>
                </a:cubicBezTo>
                <a:cubicBezTo>
                  <a:pt x="10155" y="63"/>
                  <a:pt x="10128" y="56"/>
                  <a:pt x="10102" y="56"/>
                </a:cubicBezTo>
                <a:cubicBezTo>
                  <a:pt x="10043" y="56"/>
                  <a:pt x="9987" y="91"/>
                  <a:pt x="9954" y="149"/>
                </a:cubicBezTo>
                <a:cubicBezTo>
                  <a:pt x="9918" y="244"/>
                  <a:pt x="9942" y="328"/>
                  <a:pt x="10037" y="375"/>
                </a:cubicBezTo>
                <a:cubicBezTo>
                  <a:pt x="10168" y="447"/>
                  <a:pt x="10251" y="590"/>
                  <a:pt x="10251" y="732"/>
                </a:cubicBezTo>
                <a:cubicBezTo>
                  <a:pt x="10251" y="959"/>
                  <a:pt x="10073" y="1137"/>
                  <a:pt x="9859" y="1137"/>
                </a:cubicBezTo>
                <a:cubicBezTo>
                  <a:pt x="9632" y="1137"/>
                  <a:pt x="9454" y="959"/>
                  <a:pt x="9454" y="732"/>
                </a:cubicBezTo>
                <a:cubicBezTo>
                  <a:pt x="9454" y="613"/>
                  <a:pt x="9489" y="506"/>
                  <a:pt x="9585" y="435"/>
                </a:cubicBezTo>
                <a:cubicBezTo>
                  <a:pt x="9656" y="375"/>
                  <a:pt x="9656" y="268"/>
                  <a:pt x="9597" y="197"/>
                </a:cubicBezTo>
                <a:cubicBezTo>
                  <a:pt x="9565" y="159"/>
                  <a:pt x="9521" y="141"/>
                  <a:pt x="9476" y="141"/>
                </a:cubicBezTo>
                <a:cubicBezTo>
                  <a:pt x="9435" y="141"/>
                  <a:pt x="9393" y="156"/>
                  <a:pt x="9358" y="185"/>
                </a:cubicBezTo>
                <a:cubicBezTo>
                  <a:pt x="9239" y="292"/>
                  <a:pt x="9168" y="423"/>
                  <a:pt x="9120" y="566"/>
                </a:cubicBezTo>
                <a:lnTo>
                  <a:pt x="6370" y="566"/>
                </a:lnTo>
                <a:lnTo>
                  <a:pt x="6370" y="173"/>
                </a:lnTo>
                <a:cubicBezTo>
                  <a:pt x="6370" y="78"/>
                  <a:pt x="6299" y="6"/>
                  <a:pt x="6203" y="6"/>
                </a:cubicBezTo>
                <a:lnTo>
                  <a:pt x="5072" y="6"/>
                </a:lnTo>
                <a:cubicBezTo>
                  <a:pt x="4989" y="6"/>
                  <a:pt x="4906" y="78"/>
                  <a:pt x="4906" y="173"/>
                </a:cubicBezTo>
                <a:lnTo>
                  <a:pt x="4906" y="566"/>
                </a:lnTo>
                <a:lnTo>
                  <a:pt x="2155" y="566"/>
                </a:lnTo>
                <a:cubicBezTo>
                  <a:pt x="2077" y="214"/>
                  <a:pt x="1767" y="0"/>
                  <a:pt x="14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g3e809d6aa99_0_8"/>
          <p:cNvGrpSpPr/>
          <p:nvPr/>
        </p:nvGrpSpPr>
        <p:grpSpPr>
          <a:xfrm>
            <a:off x="5770805" y="2321267"/>
            <a:ext cx="383632" cy="276449"/>
            <a:chOff x="3933342" y="4315767"/>
            <a:chExt cx="383632" cy="276449"/>
          </a:xfrm>
        </p:grpSpPr>
        <p:sp>
          <p:nvSpPr>
            <p:cNvPr id="376" name="Google Shape;376;g3e809d6aa99_0_8"/>
            <p:cNvSpPr/>
            <p:nvPr/>
          </p:nvSpPr>
          <p:spPr>
            <a:xfrm>
              <a:off x="3933342" y="4315767"/>
              <a:ext cx="383632" cy="276449"/>
            </a:xfrm>
            <a:custGeom>
              <a:rect b="b" l="l" r="r" t="t"/>
              <a:pathLst>
                <a:path extrusionOk="0" h="8692" w="12062">
                  <a:moveTo>
                    <a:pt x="2061" y="369"/>
                  </a:moveTo>
                  <a:cubicBezTo>
                    <a:pt x="2120" y="369"/>
                    <a:pt x="2168" y="417"/>
                    <a:pt x="2168" y="476"/>
                  </a:cubicBezTo>
                  <a:lnTo>
                    <a:pt x="2168" y="845"/>
                  </a:lnTo>
                  <a:lnTo>
                    <a:pt x="1406" y="845"/>
                  </a:lnTo>
                  <a:lnTo>
                    <a:pt x="1406" y="476"/>
                  </a:lnTo>
                  <a:cubicBezTo>
                    <a:pt x="1406" y="417"/>
                    <a:pt x="1454" y="369"/>
                    <a:pt x="1513" y="369"/>
                  </a:cubicBezTo>
                  <a:close/>
                  <a:moveTo>
                    <a:pt x="10824" y="1262"/>
                  </a:moveTo>
                  <a:cubicBezTo>
                    <a:pt x="10883" y="1262"/>
                    <a:pt x="10931" y="1310"/>
                    <a:pt x="10931" y="1369"/>
                  </a:cubicBezTo>
                  <a:lnTo>
                    <a:pt x="10943" y="1715"/>
                  </a:lnTo>
                  <a:lnTo>
                    <a:pt x="9490" y="1715"/>
                  </a:lnTo>
                  <a:lnTo>
                    <a:pt x="9490" y="1369"/>
                  </a:lnTo>
                  <a:cubicBezTo>
                    <a:pt x="9490" y="1310"/>
                    <a:pt x="9526" y="1262"/>
                    <a:pt x="9586" y="1262"/>
                  </a:cubicBezTo>
                  <a:close/>
                  <a:moveTo>
                    <a:pt x="1513" y="0"/>
                  </a:moveTo>
                  <a:cubicBezTo>
                    <a:pt x="1251" y="0"/>
                    <a:pt x="1049" y="214"/>
                    <a:pt x="1049" y="464"/>
                  </a:cubicBezTo>
                  <a:lnTo>
                    <a:pt x="1049" y="833"/>
                  </a:lnTo>
                  <a:lnTo>
                    <a:pt x="894" y="833"/>
                  </a:lnTo>
                  <a:cubicBezTo>
                    <a:pt x="692" y="833"/>
                    <a:pt x="489" y="905"/>
                    <a:pt x="334" y="1048"/>
                  </a:cubicBezTo>
                  <a:cubicBezTo>
                    <a:pt x="263" y="1107"/>
                    <a:pt x="239" y="1226"/>
                    <a:pt x="299" y="1298"/>
                  </a:cubicBezTo>
                  <a:cubicBezTo>
                    <a:pt x="332" y="1338"/>
                    <a:pt x="385" y="1360"/>
                    <a:pt x="440" y="1360"/>
                  </a:cubicBezTo>
                  <a:cubicBezTo>
                    <a:pt x="482" y="1360"/>
                    <a:pt x="525" y="1347"/>
                    <a:pt x="561" y="1322"/>
                  </a:cubicBezTo>
                  <a:cubicBezTo>
                    <a:pt x="676" y="1220"/>
                    <a:pt x="791" y="1203"/>
                    <a:pt x="908" y="1203"/>
                  </a:cubicBezTo>
                  <a:cubicBezTo>
                    <a:pt x="966" y="1203"/>
                    <a:pt x="1025" y="1207"/>
                    <a:pt x="1084" y="1207"/>
                  </a:cubicBezTo>
                  <a:cubicBezTo>
                    <a:pt x="1116" y="1207"/>
                    <a:pt x="1148" y="1206"/>
                    <a:pt x="1180" y="1203"/>
                  </a:cubicBezTo>
                  <a:lnTo>
                    <a:pt x="2680" y="1203"/>
                  </a:lnTo>
                  <a:cubicBezTo>
                    <a:pt x="2978" y="1203"/>
                    <a:pt x="3216" y="1441"/>
                    <a:pt x="3216" y="1738"/>
                  </a:cubicBezTo>
                  <a:lnTo>
                    <a:pt x="3216" y="2429"/>
                  </a:lnTo>
                  <a:cubicBezTo>
                    <a:pt x="3216" y="2536"/>
                    <a:pt x="3299" y="2607"/>
                    <a:pt x="3394" y="2607"/>
                  </a:cubicBezTo>
                  <a:cubicBezTo>
                    <a:pt x="3501" y="2607"/>
                    <a:pt x="3573" y="2536"/>
                    <a:pt x="3573" y="2429"/>
                  </a:cubicBezTo>
                  <a:lnTo>
                    <a:pt x="3573" y="2072"/>
                  </a:lnTo>
                  <a:lnTo>
                    <a:pt x="11217" y="2072"/>
                  </a:lnTo>
                  <a:cubicBezTo>
                    <a:pt x="11491" y="2084"/>
                    <a:pt x="11705" y="2322"/>
                    <a:pt x="11705" y="2607"/>
                  </a:cubicBezTo>
                  <a:lnTo>
                    <a:pt x="11705" y="2834"/>
                  </a:lnTo>
                  <a:lnTo>
                    <a:pt x="11395" y="2834"/>
                  </a:lnTo>
                  <a:cubicBezTo>
                    <a:pt x="11288" y="2834"/>
                    <a:pt x="11217" y="2905"/>
                    <a:pt x="11217" y="3012"/>
                  </a:cubicBezTo>
                  <a:cubicBezTo>
                    <a:pt x="11217" y="3108"/>
                    <a:pt x="11288" y="3191"/>
                    <a:pt x="11395" y="3191"/>
                  </a:cubicBezTo>
                  <a:lnTo>
                    <a:pt x="11705" y="3191"/>
                  </a:lnTo>
                  <a:lnTo>
                    <a:pt x="11705" y="7441"/>
                  </a:lnTo>
                  <a:lnTo>
                    <a:pt x="10883" y="7441"/>
                  </a:lnTo>
                  <a:cubicBezTo>
                    <a:pt x="10621" y="7441"/>
                    <a:pt x="10395" y="7215"/>
                    <a:pt x="10395" y="6953"/>
                  </a:cubicBezTo>
                  <a:lnTo>
                    <a:pt x="10395" y="3667"/>
                  </a:lnTo>
                  <a:cubicBezTo>
                    <a:pt x="10395" y="3453"/>
                    <a:pt x="10538" y="3262"/>
                    <a:pt x="10740" y="3203"/>
                  </a:cubicBezTo>
                  <a:cubicBezTo>
                    <a:pt x="10824" y="3167"/>
                    <a:pt x="10883" y="3072"/>
                    <a:pt x="10859" y="2977"/>
                  </a:cubicBezTo>
                  <a:cubicBezTo>
                    <a:pt x="10829" y="2906"/>
                    <a:pt x="10747" y="2852"/>
                    <a:pt x="10672" y="2852"/>
                  </a:cubicBezTo>
                  <a:cubicBezTo>
                    <a:pt x="10659" y="2852"/>
                    <a:pt x="10646" y="2854"/>
                    <a:pt x="10633" y="2858"/>
                  </a:cubicBezTo>
                  <a:cubicBezTo>
                    <a:pt x="10276" y="2965"/>
                    <a:pt x="10038" y="3310"/>
                    <a:pt x="10038" y="3667"/>
                  </a:cubicBezTo>
                  <a:lnTo>
                    <a:pt x="10038" y="6953"/>
                  </a:lnTo>
                  <a:cubicBezTo>
                    <a:pt x="10038" y="7418"/>
                    <a:pt x="10419" y="7799"/>
                    <a:pt x="10883" y="7799"/>
                  </a:cubicBezTo>
                  <a:lnTo>
                    <a:pt x="11705" y="7799"/>
                  </a:lnTo>
                  <a:cubicBezTo>
                    <a:pt x="11705" y="8096"/>
                    <a:pt x="11467" y="8334"/>
                    <a:pt x="11169" y="8334"/>
                  </a:cubicBezTo>
                  <a:lnTo>
                    <a:pt x="3394" y="8334"/>
                  </a:lnTo>
                  <a:cubicBezTo>
                    <a:pt x="3478" y="8227"/>
                    <a:pt x="3537" y="8108"/>
                    <a:pt x="3561" y="7977"/>
                  </a:cubicBezTo>
                  <a:cubicBezTo>
                    <a:pt x="3573" y="7870"/>
                    <a:pt x="3513" y="7787"/>
                    <a:pt x="3430" y="7775"/>
                  </a:cubicBezTo>
                  <a:cubicBezTo>
                    <a:pt x="3414" y="7771"/>
                    <a:pt x="3399" y="7770"/>
                    <a:pt x="3384" y="7770"/>
                  </a:cubicBezTo>
                  <a:cubicBezTo>
                    <a:pt x="3299" y="7770"/>
                    <a:pt x="3236" y="7825"/>
                    <a:pt x="3216" y="7906"/>
                  </a:cubicBezTo>
                  <a:cubicBezTo>
                    <a:pt x="3180" y="8156"/>
                    <a:pt x="2954" y="8334"/>
                    <a:pt x="2704" y="8334"/>
                  </a:cubicBezTo>
                  <a:lnTo>
                    <a:pt x="823" y="8334"/>
                  </a:lnTo>
                  <a:cubicBezTo>
                    <a:pt x="572" y="8287"/>
                    <a:pt x="358" y="8072"/>
                    <a:pt x="358" y="7799"/>
                  </a:cubicBezTo>
                  <a:lnTo>
                    <a:pt x="358" y="2774"/>
                  </a:lnTo>
                  <a:lnTo>
                    <a:pt x="358" y="1834"/>
                  </a:lnTo>
                  <a:cubicBezTo>
                    <a:pt x="358" y="1726"/>
                    <a:pt x="287" y="1655"/>
                    <a:pt x="180" y="1655"/>
                  </a:cubicBezTo>
                  <a:cubicBezTo>
                    <a:pt x="72" y="1655"/>
                    <a:pt x="1" y="1726"/>
                    <a:pt x="1" y="1834"/>
                  </a:cubicBezTo>
                  <a:lnTo>
                    <a:pt x="1" y="7799"/>
                  </a:lnTo>
                  <a:cubicBezTo>
                    <a:pt x="1" y="8251"/>
                    <a:pt x="334" y="8608"/>
                    <a:pt x="751" y="8680"/>
                  </a:cubicBezTo>
                  <a:cubicBezTo>
                    <a:pt x="763" y="8680"/>
                    <a:pt x="787" y="8680"/>
                    <a:pt x="811" y="8692"/>
                  </a:cubicBezTo>
                  <a:lnTo>
                    <a:pt x="11169" y="8692"/>
                  </a:lnTo>
                  <a:cubicBezTo>
                    <a:pt x="11657" y="8692"/>
                    <a:pt x="12062" y="8287"/>
                    <a:pt x="12062" y="7799"/>
                  </a:cubicBezTo>
                  <a:lnTo>
                    <a:pt x="12062" y="2607"/>
                  </a:lnTo>
                  <a:cubicBezTo>
                    <a:pt x="12050" y="2155"/>
                    <a:pt x="11717" y="1786"/>
                    <a:pt x="11300" y="1715"/>
                  </a:cubicBezTo>
                  <a:lnTo>
                    <a:pt x="11300" y="1357"/>
                  </a:lnTo>
                  <a:cubicBezTo>
                    <a:pt x="11300" y="1107"/>
                    <a:pt x="11098" y="893"/>
                    <a:pt x="10836" y="893"/>
                  </a:cubicBezTo>
                  <a:lnTo>
                    <a:pt x="9609" y="893"/>
                  </a:lnTo>
                  <a:cubicBezTo>
                    <a:pt x="9347" y="893"/>
                    <a:pt x="9145" y="1107"/>
                    <a:pt x="9145" y="1357"/>
                  </a:cubicBezTo>
                  <a:lnTo>
                    <a:pt x="9145" y="1703"/>
                  </a:lnTo>
                  <a:lnTo>
                    <a:pt x="8621" y="1703"/>
                  </a:lnTo>
                  <a:lnTo>
                    <a:pt x="8252" y="881"/>
                  </a:lnTo>
                  <a:cubicBezTo>
                    <a:pt x="8121" y="595"/>
                    <a:pt x="7823" y="405"/>
                    <a:pt x="7502" y="405"/>
                  </a:cubicBezTo>
                  <a:lnTo>
                    <a:pt x="6049" y="405"/>
                  </a:lnTo>
                  <a:cubicBezTo>
                    <a:pt x="5776" y="405"/>
                    <a:pt x="5525" y="536"/>
                    <a:pt x="5383" y="738"/>
                  </a:cubicBezTo>
                  <a:cubicBezTo>
                    <a:pt x="5323" y="822"/>
                    <a:pt x="5335" y="941"/>
                    <a:pt x="5418" y="1000"/>
                  </a:cubicBezTo>
                  <a:cubicBezTo>
                    <a:pt x="5450" y="1023"/>
                    <a:pt x="5486" y="1033"/>
                    <a:pt x="5523" y="1033"/>
                  </a:cubicBezTo>
                  <a:cubicBezTo>
                    <a:pt x="5583" y="1033"/>
                    <a:pt x="5643" y="1004"/>
                    <a:pt x="5680" y="953"/>
                  </a:cubicBezTo>
                  <a:cubicBezTo>
                    <a:pt x="5764" y="833"/>
                    <a:pt x="5895" y="762"/>
                    <a:pt x="6049" y="762"/>
                  </a:cubicBezTo>
                  <a:lnTo>
                    <a:pt x="7502" y="762"/>
                  </a:lnTo>
                  <a:cubicBezTo>
                    <a:pt x="7681" y="762"/>
                    <a:pt x="7847" y="869"/>
                    <a:pt x="7919" y="1024"/>
                  </a:cubicBezTo>
                  <a:lnTo>
                    <a:pt x="8240" y="1703"/>
                  </a:lnTo>
                  <a:lnTo>
                    <a:pt x="5335" y="1703"/>
                  </a:lnTo>
                  <a:lnTo>
                    <a:pt x="5395" y="1584"/>
                  </a:lnTo>
                  <a:cubicBezTo>
                    <a:pt x="5430" y="1488"/>
                    <a:pt x="5395" y="1381"/>
                    <a:pt x="5299" y="1345"/>
                  </a:cubicBezTo>
                  <a:cubicBezTo>
                    <a:pt x="5276" y="1332"/>
                    <a:pt x="5252" y="1327"/>
                    <a:pt x="5227" y="1327"/>
                  </a:cubicBezTo>
                  <a:cubicBezTo>
                    <a:pt x="5162" y="1327"/>
                    <a:pt x="5096" y="1368"/>
                    <a:pt x="5061" y="1429"/>
                  </a:cubicBezTo>
                  <a:lnTo>
                    <a:pt x="4942" y="1703"/>
                  </a:lnTo>
                  <a:lnTo>
                    <a:pt x="3561" y="1703"/>
                  </a:lnTo>
                  <a:cubicBezTo>
                    <a:pt x="3549" y="1226"/>
                    <a:pt x="3144" y="833"/>
                    <a:pt x="2668" y="833"/>
                  </a:cubicBezTo>
                  <a:lnTo>
                    <a:pt x="2525" y="833"/>
                  </a:lnTo>
                  <a:lnTo>
                    <a:pt x="2525" y="464"/>
                  </a:lnTo>
                  <a:cubicBezTo>
                    <a:pt x="2525" y="214"/>
                    <a:pt x="2311" y="0"/>
                    <a:pt x="2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e809d6aa99_0_8"/>
            <p:cNvSpPr/>
            <p:nvPr/>
          </p:nvSpPr>
          <p:spPr>
            <a:xfrm>
              <a:off x="4035214" y="4410037"/>
              <a:ext cx="11386" cy="140896"/>
            </a:xfrm>
            <a:custGeom>
              <a:rect b="b" l="l" r="r" t="t"/>
              <a:pathLst>
                <a:path extrusionOk="0" h="4430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4251"/>
                  </a:lnTo>
                  <a:cubicBezTo>
                    <a:pt x="1" y="4358"/>
                    <a:pt x="72" y="4430"/>
                    <a:pt x="179" y="4430"/>
                  </a:cubicBezTo>
                  <a:cubicBezTo>
                    <a:pt x="287" y="4430"/>
                    <a:pt x="358" y="4358"/>
                    <a:pt x="358" y="4251"/>
                  </a:cubicBezTo>
                  <a:lnTo>
                    <a:pt x="358" y="179"/>
                  </a:lnTo>
                  <a:cubicBezTo>
                    <a:pt x="358" y="84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e809d6aa99_0_8"/>
            <p:cNvSpPr/>
            <p:nvPr/>
          </p:nvSpPr>
          <p:spPr>
            <a:xfrm>
              <a:off x="4221146" y="4390827"/>
              <a:ext cx="42460" cy="32886"/>
            </a:xfrm>
            <a:custGeom>
              <a:rect b="b" l="l" r="r" t="t"/>
              <a:pathLst>
                <a:path extrusionOk="0" h="1034" w="1335">
                  <a:moveTo>
                    <a:pt x="813" y="0"/>
                  </a:moveTo>
                  <a:cubicBezTo>
                    <a:pt x="753" y="0"/>
                    <a:pt x="693" y="29"/>
                    <a:pt x="656" y="81"/>
                  </a:cubicBezTo>
                  <a:cubicBezTo>
                    <a:pt x="596" y="152"/>
                    <a:pt x="620" y="271"/>
                    <a:pt x="703" y="331"/>
                  </a:cubicBezTo>
                  <a:cubicBezTo>
                    <a:pt x="846" y="438"/>
                    <a:pt x="775" y="664"/>
                    <a:pt x="596" y="664"/>
                  </a:cubicBezTo>
                  <a:cubicBezTo>
                    <a:pt x="489" y="664"/>
                    <a:pt x="406" y="557"/>
                    <a:pt x="417" y="450"/>
                  </a:cubicBezTo>
                  <a:cubicBezTo>
                    <a:pt x="429" y="355"/>
                    <a:pt x="370" y="259"/>
                    <a:pt x="275" y="247"/>
                  </a:cubicBezTo>
                  <a:cubicBezTo>
                    <a:pt x="265" y="246"/>
                    <a:pt x="256" y="246"/>
                    <a:pt x="248" y="246"/>
                  </a:cubicBezTo>
                  <a:cubicBezTo>
                    <a:pt x="152" y="246"/>
                    <a:pt x="71" y="303"/>
                    <a:pt x="60" y="390"/>
                  </a:cubicBezTo>
                  <a:cubicBezTo>
                    <a:pt x="1" y="736"/>
                    <a:pt x="251" y="1033"/>
                    <a:pt x="584" y="1033"/>
                  </a:cubicBezTo>
                  <a:cubicBezTo>
                    <a:pt x="1120" y="1009"/>
                    <a:pt x="1334" y="331"/>
                    <a:pt x="918" y="33"/>
                  </a:cubicBezTo>
                  <a:cubicBezTo>
                    <a:pt x="886" y="11"/>
                    <a:pt x="849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e809d6aa99_0_8"/>
            <p:cNvSpPr/>
            <p:nvPr/>
          </p:nvSpPr>
          <p:spPr>
            <a:xfrm>
              <a:off x="4054519" y="4384561"/>
              <a:ext cx="192961" cy="192516"/>
            </a:xfrm>
            <a:custGeom>
              <a:rect b="b" l="l" r="r" t="t"/>
              <a:pathLst>
                <a:path extrusionOk="0" h="6053" w="6067">
                  <a:moveTo>
                    <a:pt x="3013" y="1"/>
                  </a:moveTo>
                  <a:cubicBezTo>
                    <a:pt x="2380" y="1"/>
                    <a:pt x="1733" y="201"/>
                    <a:pt x="1168" y="647"/>
                  </a:cubicBezTo>
                  <a:cubicBezTo>
                    <a:pt x="1096" y="706"/>
                    <a:pt x="1073" y="825"/>
                    <a:pt x="1132" y="909"/>
                  </a:cubicBezTo>
                  <a:cubicBezTo>
                    <a:pt x="1166" y="949"/>
                    <a:pt x="1219" y="971"/>
                    <a:pt x="1274" y="971"/>
                  </a:cubicBezTo>
                  <a:cubicBezTo>
                    <a:pt x="1315" y="971"/>
                    <a:pt x="1358" y="958"/>
                    <a:pt x="1394" y="933"/>
                  </a:cubicBezTo>
                  <a:cubicBezTo>
                    <a:pt x="1895" y="538"/>
                    <a:pt x="2466" y="360"/>
                    <a:pt x="3024" y="360"/>
                  </a:cubicBezTo>
                  <a:cubicBezTo>
                    <a:pt x="4402" y="360"/>
                    <a:pt x="5704" y="1444"/>
                    <a:pt x="5704" y="3028"/>
                  </a:cubicBezTo>
                  <a:cubicBezTo>
                    <a:pt x="5704" y="3659"/>
                    <a:pt x="5478" y="4266"/>
                    <a:pt x="5085" y="4743"/>
                  </a:cubicBezTo>
                  <a:cubicBezTo>
                    <a:pt x="4573" y="5350"/>
                    <a:pt x="3835" y="5707"/>
                    <a:pt x="3025" y="5707"/>
                  </a:cubicBezTo>
                  <a:cubicBezTo>
                    <a:pt x="1549" y="5707"/>
                    <a:pt x="358" y="4516"/>
                    <a:pt x="358" y="3052"/>
                  </a:cubicBezTo>
                  <a:cubicBezTo>
                    <a:pt x="358" y="2457"/>
                    <a:pt x="561" y="1897"/>
                    <a:pt x="918" y="1421"/>
                  </a:cubicBezTo>
                  <a:cubicBezTo>
                    <a:pt x="977" y="1349"/>
                    <a:pt x="953" y="1230"/>
                    <a:pt x="882" y="1171"/>
                  </a:cubicBezTo>
                  <a:cubicBezTo>
                    <a:pt x="852" y="1146"/>
                    <a:pt x="814" y="1134"/>
                    <a:pt x="776" y="1134"/>
                  </a:cubicBezTo>
                  <a:cubicBezTo>
                    <a:pt x="722" y="1134"/>
                    <a:pt x="667" y="1158"/>
                    <a:pt x="632" y="1206"/>
                  </a:cubicBezTo>
                  <a:cubicBezTo>
                    <a:pt x="227" y="1742"/>
                    <a:pt x="1" y="2361"/>
                    <a:pt x="1" y="3028"/>
                  </a:cubicBezTo>
                  <a:cubicBezTo>
                    <a:pt x="1" y="4695"/>
                    <a:pt x="1358" y="6052"/>
                    <a:pt x="3025" y="6052"/>
                  </a:cubicBezTo>
                  <a:cubicBezTo>
                    <a:pt x="3930" y="6052"/>
                    <a:pt x="4775" y="5648"/>
                    <a:pt x="5347" y="4969"/>
                  </a:cubicBezTo>
                  <a:cubicBezTo>
                    <a:pt x="5787" y="4433"/>
                    <a:pt x="6049" y="3731"/>
                    <a:pt x="6049" y="3028"/>
                  </a:cubicBezTo>
                  <a:cubicBezTo>
                    <a:pt x="6066" y="1230"/>
                    <a:pt x="4580" y="1"/>
                    <a:pt x="3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e809d6aa99_0_8"/>
            <p:cNvSpPr/>
            <p:nvPr/>
          </p:nvSpPr>
          <p:spPr>
            <a:xfrm>
              <a:off x="4085593" y="4420278"/>
              <a:ext cx="145826" cy="120923"/>
            </a:xfrm>
            <a:custGeom>
              <a:rect b="b" l="l" r="r" t="t"/>
              <a:pathLst>
                <a:path extrusionOk="0" h="3802" w="4585">
                  <a:moveTo>
                    <a:pt x="2060" y="0"/>
                  </a:moveTo>
                  <a:cubicBezTo>
                    <a:pt x="893" y="0"/>
                    <a:pt x="0" y="1060"/>
                    <a:pt x="191" y="2203"/>
                  </a:cubicBezTo>
                  <a:cubicBezTo>
                    <a:pt x="202" y="2301"/>
                    <a:pt x="282" y="2359"/>
                    <a:pt x="369" y="2359"/>
                  </a:cubicBezTo>
                  <a:cubicBezTo>
                    <a:pt x="377" y="2359"/>
                    <a:pt x="385" y="2359"/>
                    <a:pt x="393" y="2358"/>
                  </a:cubicBezTo>
                  <a:cubicBezTo>
                    <a:pt x="500" y="2346"/>
                    <a:pt x="560" y="2250"/>
                    <a:pt x="548" y="2143"/>
                  </a:cubicBezTo>
                  <a:cubicBezTo>
                    <a:pt x="377" y="1146"/>
                    <a:pt x="1184" y="350"/>
                    <a:pt x="2075" y="350"/>
                  </a:cubicBezTo>
                  <a:cubicBezTo>
                    <a:pt x="2428" y="350"/>
                    <a:pt x="2795" y="475"/>
                    <a:pt x="3120" y="762"/>
                  </a:cubicBezTo>
                  <a:cubicBezTo>
                    <a:pt x="3727" y="1334"/>
                    <a:pt x="3786" y="2310"/>
                    <a:pt x="3191" y="2941"/>
                  </a:cubicBezTo>
                  <a:cubicBezTo>
                    <a:pt x="2884" y="3270"/>
                    <a:pt x="2472" y="3430"/>
                    <a:pt x="2064" y="3430"/>
                  </a:cubicBezTo>
                  <a:cubicBezTo>
                    <a:pt x="1569" y="3430"/>
                    <a:pt x="1079" y="3195"/>
                    <a:pt x="786" y="2739"/>
                  </a:cubicBezTo>
                  <a:cubicBezTo>
                    <a:pt x="751" y="2690"/>
                    <a:pt x="700" y="2666"/>
                    <a:pt x="645" y="2666"/>
                  </a:cubicBezTo>
                  <a:cubicBezTo>
                    <a:pt x="606" y="2666"/>
                    <a:pt x="564" y="2678"/>
                    <a:pt x="524" y="2703"/>
                  </a:cubicBezTo>
                  <a:cubicBezTo>
                    <a:pt x="441" y="2762"/>
                    <a:pt x="429" y="2858"/>
                    <a:pt x="488" y="2953"/>
                  </a:cubicBezTo>
                  <a:cubicBezTo>
                    <a:pt x="859" y="3512"/>
                    <a:pt x="1464" y="3801"/>
                    <a:pt x="2073" y="3801"/>
                  </a:cubicBezTo>
                  <a:cubicBezTo>
                    <a:pt x="2579" y="3801"/>
                    <a:pt x="3087" y="3602"/>
                    <a:pt x="3465" y="3191"/>
                  </a:cubicBezTo>
                  <a:cubicBezTo>
                    <a:pt x="4584" y="1988"/>
                    <a:pt x="3715" y="0"/>
                    <a:pt x="2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e809d6aa99_0_8"/>
            <p:cNvSpPr/>
            <p:nvPr/>
          </p:nvSpPr>
          <p:spPr>
            <a:xfrm>
              <a:off x="4131392" y="4449507"/>
              <a:ext cx="54577" cy="45767"/>
            </a:xfrm>
            <a:custGeom>
              <a:rect b="b" l="l" r="r" t="t"/>
              <a:pathLst>
                <a:path extrusionOk="0" h="1439" w="1716">
                  <a:moveTo>
                    <a:pt x="820" y="0"/>
                  </a:moveTo>
                  <a:cubicBezTo>
                    <a:pt x="805" y="0"/>
                    <a:pt x="790" y="3"/>
                    <a:pt x="775" y="10"/>
                  </a:cubicBezTo>
                  <a:cubicBezTo>
                    <a:pt x="203" y="129"/>
                    <a:pt x="1" y="831"/>
                    <a:pt x="394" y="1224"/>
                  </a:cubicBezTo>
                  <a:cubicBezTo>
                    <a:pt x="537" y="1367"/>
                    <a:pt x="724" y="1439"/>
                    <a:pt x="912" y="1439"/>
                  </a:cubicBezTo>
                  <a:cubicBezTo>
                    <a:pt x="1099" y="1439"/>
                    <a:pt x="1287" y="1367"/>
                    <a:pt x="1430" y="1224"/>
                  </a:cubicBezTo>
                  <a:cubicBezTo>
                    <a:pt x="1668" y="986"/>
                    <a:pt x="1715" y="665"/>
                    <a:pt x="1573" y="391"/>
                  </a:cubicBezTo>
                  <a:cubicBezTo>
                    <a:pt x="1546" y="329"/>
                    <a:pt x="1481" y="294"/>
                    <a:pt x="1410" y="294"/>
                  </a:cubicBezTo>
                  <a:cubicBezTo>
                    <a:pt x="1385" y="294"/>
                    <a:pt x="1359" y="298"/>
                    <a:pt x="1334" y="307"/>
                  </a:cubicBezTo>
                  <a:cubicBezTo>
                    <a:pt x="1251" y="343"/>
                    <a:pt x="1215" y="450"/>
                    <a:pt x="1251" y="546"/>
                  </a:cubicBezTo>
                  <a:cubicBezTo>
                    <a:pt x="1311" y="677"/>
                    <a:pt x="1287" y="843"/>
                    <a:pt x="1180" y="962"/>
                  </a:cubicBezTo>
                  <a:cubicBezTo>
                    <a:pt x="1102" y="1034"/>
                    <a:pt x="1007" y="1069"/>
                    <a:pt x="913" y="1069"/>
                  </a:cubicBezTo>
                  <a:cubicBezTo>
                    <a:pt x="820" y="1069"/>
                    <a:pt x="727" y="1034"/>
                    <a:pt x="656" y="962"/>
                  </a:cubicBezTo>
                  <a:cubicBezTo>
                    <a:pt x="441" y="748"/>
                    <a:pt x="561" y="391"/>
                    <a:pt x="846" y="343"/>
                  </a:cubicBezTo>
                  <a:cubicBezTo>
                    <a:pt x="953" y="331"/>
                    <a:pt x="1013" y="236"/>
                    <a:pt x="977" y="141"/>
                  </a:cubicBezTo>
                  <a:cubicBezTo>
                    <a:pt x="958" y="63"/>
                    <a:pt x="890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g3e809d6aa99_0_8"/>
          <p:cNvGrpSpPr/>
          <p:nvPr/>
        </p:nvGrpSpPr>
        <p:grpSpPr>
          <a:xfrm>
            <a:off x="7976428" y="2308205"/>
            <a:ext cx="337069" cy="302592"/>
            <a:chOff x="3441065" y="4302505"/>
            <a:chExt cx="337069" cy="302592"/>
          </a:xfrm>
        </p:grpSpPr>
        <p:sp>
          <p:nvSpPr>
            <p:cNvPr id="383" name="Google Shape;383;g3e809d6aa99_0_8"/>
            <p:cNvSpPr/>
            <p:nvPr/>
          </p:nvSpPr>
          <p:spPr>
            <a:xfrm>
              <a:off x="3441065" y="4366941"/>
              <a:ext cx="337069" cy="173655"/>
            </a:xfrm>
            <a:custGeom>
              <a:rect b="b" l="l" r="r" t="t"/>
              <a:pathLst>
                <a:path extrusionOk="0" h="5460" w="10598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e809d6aa99_0_8"/>
            <p:cNvSpPr/>
            <p:nvPr/>
          </p:nvSpPr>
          <p:spPr>
            <a:xfrm>
              <a:off x="3572864" y="4423300"/>
              <a:ext cx="76141" cy="61479"/>
            </a:xfrm>
            <a:custGeom>
              <a:rect b="b" l="l" r="r" t="t"/>
              <a:pathLst>
                <a:path extrusionOk="0" h="1933" w="2394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e809d6aa99_0_8"/>
            <p:cNvSpPr/>
            <p:nvPr/>
          </p:nvSpPr>
          <p:spPr>
            <a:xfrm>
              <a:off x="3619045" y="4394485"/>
              <a:ext cx="46626" cy="39088"/>
            </a:xfrm>
            <a:custGeom>
              <a:rect b="b" l="l" r="r" t="t"/>
              <a:pathLst>
                <a:path extrusionOk="0" h="1229" w="1466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e809d6aa99_0_8"/>
            <p:cNvSpPr/>
            <p:nvPr/>
          </p:nvSpPr>
          <p:spPr>
            <a:xfrm>
              <a:off x="3604669" y="4302505"/>
              <a:ext cx="9860" cy="42046"/>
            </a:xfrm>
            <a:custGeom>
              <a:rect b="b" l="l" r="r" t="t"/>
              <a:pathLst>
                <a:path extrusionOk="0" h="1322" w="31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e809d6aa99_0_8"/>
            <p:cNvSpPr/>
            <p:nvPr/>
          </p:nvSpPr>
          <p:spPr>
            <a:xfrm>
              <a:off x="3528178" y="4315926"/>
              <a:ext cx="22359" cy="40742"/>
            </a:xfrm>
            <a:custGeom>
              <a:rect b="b" l="l" r="r" t="t"/>
              <a:pathLst>
                <a:path extrusionOk="0" h="1281" w="703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e809d6aa99_0_8"/>
            <p:cNvSpPr/>
            <p:nvPr/>
          </p:nvSpPr>
          <p:spPr>
            <a:xfrm>
              <a:off x="3457730" y="4348590"/>
              <a:ext cx="32600" cy="35367"/>
            </a:xfrm>
            <a:custGeom>
              <a:rect b="b" l="l" r="r" t="t"/>
              <a:pathLst>
                <a:path extrusionOk="0" h="1112" w="1025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e809d6aa99_0_8"/>
            <p:cNvSpPr/>
            <p:nvPr/>
          </p:nvSpPr>
          <p:spPr>
            <a:xfrm>
              <a:off x="3727723" y="4351611"/>
              <a:ext cx="32218" cy="34954"/>
            </a:xfrm>
            <a:custGeom>
              <a:rect b="b" l="l" r="r" t="t"/>
              <a:pathLst>
                <a:path extrusionOk="0" h="1099" w="1013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e809d6aa99_0_8"/>
            <p:cNvSpPr/>
            <p:nvPr/>
          </p:nvSpPr>
          <p:spPr>
            <a:xfrm>
              <a:off x="3668279" y="4315926"/>
              <a:ext cx="22391" cy="40742"/>
            </a:xfrm>
            <a:custGeom>
              <a:rect b="b" l="l" r="r" t="t"/>
              <a:pathLst>
                <a:path extrusionOk="0" h="1281" w="704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e809d6aa99_0_8"/>
            <p:cNvSpPr/>
            <p:nvPr/>
          </p:nvSpPr>
          <p:spPr>
            <a:xfrm>
              <a:off x="3603143" y="4563019"/>
              <a:ext cx="9891" cy="42078"/>
            </a:xfrm>
            <a:custGeom>
              <a:rect b="b" l="l" r="r" t="t"/>
              <a:pathLst>
                <a:path extrusionOk="0" h="1323" w="311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e809d6aa99_0_8"/>
            <p:cNvSpPr/>
            <p:nvPr/>
          </p:nvSpPr>
          <p:spPr>
            <a:xfrm>
              <a:off x="3667134" y="4552206"/>
              <a:ext cx="22009" cy="40233"/>
            </a:xfrm>
            <a:custGeom>
              <a:rect b="b" l="l" r="r" t="t"/>
              <a:pathLst>
                <a:path extrusionOk="0" h="1265" w="692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e809d6aa99_0_8"/>
            <p:cNvSpPr/>
            <p:nvPr/>
          </p:nvSpPr>
          <p:spPr>
            <a:xfrm>
              <a:off x="3727723" y="4524662"/>
              <a:ext cx="32982" cy="35367"/>
            </a:xfrm>
            <a:custGeom>
              <a:rect b="b" l="l" r="r" t="t"/>
              <a:pathLst>
                <a:path extrusionOk="0" h="1112" w="1037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e809d6aa99_0_8"/>
            <p:cNvSpPr/>
            <p:nvPr/>
          </p:nvSpPr>
          <p:spPr>
            <a:xfrm>
              <a:off x="3457349" y="4522023"/>
              <a:ext cx="32218" cy="34954"/>
            </a:xfrm>
            <a:custGeom>
              <a:rect b="b" l="l" r="r" t="t"/>
              <a:pathLst>
                <a:path extrusionOk="0" h="1099" w="1013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e809d6aa99_0_8"/>
            <p:cNvSpPr/>
            <p:nvPr/>
          </p:nvSpPr>
          <p:spPr>
            <a:xfrm>
              <a:off x="3526270" y="4551665"/>
              <a:ext cx="22772" cy="40392"/>
            </a:xfrm>
            <a:custGeom>
              <a:rect b="b" l="l" r="r" t="t"/>
              <a:pathLst>
                <a:path extrusionOk="0" h="1270" w="716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g3e809d6aa99_0_8"/>
          <p:cNvGrpSpPr/>
          <p:nvPr/>
        </p:nvGrpSpPr>
        <p:grpSpPr>
          <a:xfrm>
            <a:off x="823126" y="2290983"/>
            <a:ext cx="337070" cy="337040"/>
            <a:chOff x="1305327" y="2894211"/>
            <a:chExt cx="357520" cy="357488"/>
          </a:xfrm>
        </p:grpSpPr>
        <p:sp>
          <p:nvSpPr>
            <p:cNvPr id="397" name="Google Shape;397;g3e809d6aa99_0_8"/>
            <p:cNvSpPr/>
            <p:nvPr/>
          </p:nvSpPr>
          <p:spPr>
            <a:xfrm>
              <a:off x="1305709" y="2975600"/>
              <a:ext cx="281379" cy="275336"/>
            </a:xfrm>
            <a:custGeom>
              <a:rect b="b" l="l" r="r" t="t"/>
              <a:pathLst>
                <a:path extrusionOk="0" h="8657" w="8847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8085"/>
                  </a:lnTo>
                  <a:cubicBezTo>
                    <a:pt x="1" y="8395"/>
                    <a:pt x="262" y="8657"/>
                    <a:pt x="572" y="8657"/>
                  </a:cubicBezTo>
                  <a:lnTo>
                    <a:pt x="8680" y="8657"/>
                  </a:lnTo>
                  <a:cubicBezTo>
                    <a:pt x="8775" y="8657"/>
                    <a:pt x="8847" y="8573"/>
                    <a:pt x="8847" y="8490"/>
                  </a:cubicBezTo>
                  <a:cubicBezTo>
                    <a:pt x="8835" y="8395"/>
                    <a:pt x="8764" y="8323"/>
                    <a:pt x="8668" y="8323"/>
                  </a:cubicBezTo>
                  <a:lnTo>
                    <a:pt x="560" y="8323"/>
                  </a:lnTo>
                  <a:cubicBezTo>
                    <a:pt x="429" y="8323"/>
                    <a:pt x="334" y="8216"/>
                    <a:pt x="334" y="8097"/>
                  </a:cubicBezTo>
                  <a:lnTo>
                    <a:pt x="334" y="168"/>
                  </a:lnTo>
                  <a:cubicBezTo>
                    <a:pt x="334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e809d6aa99_0_8"/>
            <p:cNvSpPr/>
            <p:nvPr/>
          </p:nvSpPr>
          <p:spPr>
            <a:xfrm>
              <a:off x="1305327" y="2894211"/>
              <a:ext cx="357520" cy="357488"/>
            </a:xfrm>
            <a:custGeom>
              <a:rect b="b" l="l" r="r" t="t"/>
              <a:pathLst>
                <a:path extrusionOk="0" h="11240" w="11241">
                  <a:moveTo>
                    <a:pt x="572" y="0"/>
                  </a:moveTo>
                  <a:cubicBezTo>
                    <a:pt x="251" y="0"/>
                    <a:pt x="1" y="262"/>
                    <a:pt x="1" y="572"/>
                  </a:cubicBezTo>
                  <a:lnTo>
                    <a:pt x="1" y="2060"/>
                  </a:lnTo>
                  <a:cubicBezTo>
                    <a:pt x="1" y="2143"/>
                    <a:pt x="72" y="2215"/>
                    <a:pt x="167" y="2215"/>
                  </a:cubicBezTo>
                  <a:cubicBezTo>
                    <a:pt x="263" y="2215"/>
                    <a:pt x="334" y="2143"/>
                    <a:pt x="334" y="2060"/>
                  </a:cubicBezTo>
                  <a:lnTo>
                    <a:pt x="334" y="572"/>
                  </a:lnTo>
                  <a:cubicBezTo>
                    <a:pt x="334" y="417"/>
                    <a:pt x="453" y="333"/>
                    <a:pt x="572" y="333"/>
                  </a:cubicBezTo>
                  <a:cubicBezTo>
                    <a:pt x="620" y="333"/>
                    <a:pt x="679" y="345"/>
                    <a:pt x="739" y="405"/>
                  </a:cubicBezTo>
                  <a:lnTo>
                    <a:pt x="1048" y="714"/>
                  </a:lnTo>
                  <a:lnTo>
                    <a:pt x="596" y="1167"/>
                  </a:lnTo>
                  <a:cubicBezTo>
                    <a:pt x="501" y="1262"/>
                    <a:pt x="572" y="1441"/>
                    <a:pt x="715" y="1441"/>
                  </a:cubicBezTo>
                  <a:cubicBezTo>
                    <a:pt x="834" y="1441"/>
                    <a:pt x="858" y="1357"/>
                    <a:pt x="1286" y="953"/>
                  </a:cubicBezTo>
                  <a:lnTo>
                    <a:pt x="1822" y="1488"/>
                  </a:lnTo>
                  <a:lnTo>
                    <a:pt x="1644" y="1667"/>
                  </a:lnTo>
                  <a:cubicBezTo>
                    <a:pt x="1584" y="1726"/>
                    <a:pt x="1584" y="1834"/>
                    <a:pt x="1644" y="1905"/>
                  </a:cubicBezTo>
                  <a:cubicBezTo>
                    <a:pt x="1673" y="1935"/>
                    <a:pt x="1715" y="1950"/>
                    <a:pt x="1758" y="1950"/>
                  </a:cubicBezTo>
                  <a:cubicBezTo>
                    <a:pt x="1801" y="1950"/>
                    <a:pt x="1846" y="1935"/>
                    <a:pt x="1882" y="1905"/>
                  </a:cubicBezTo>
                  <a:lnTo>
                    <a:pt x="2060" y="1726"/>
                  </a:lnTo>
                  <a:lnTo>
                    <a:pt x="2596" y="2262"/>
                  </a:lnTo>
                  <a:lnTo>
                    <a:pt x="2144" y="2715"/>
                  </a:lnTo>
                  <a:cubicBezTo>
                    <a:pt x="2084" y="2774"/>
                    <a:pt x="2084" y="2881"/>
                    <a:pt x="2144" y="2953"/>
                  </a:cubicBezTo>
                  <a:cubicBezTo>
                    <a:pt x="2173" y="2983"/>
                    <a:pt x="2215" y="2997"/>
                    <a:pt x="2258" y="2997"/>
                  </a:cubicBezTo>
                  <a:cubicBezTo>
                    <a:pt x="2301" y="2997"/>
                    <a:pt x="2346" y="2983"/>
                    <a:pt x="2382" y="2953"/>
                  </a:cubicBezTo>
                  <a:lnTo>
                    <a:pt x="2834" y="2500"/>
                  </a:lnTo>
                  <a:lnTo>
                    <a:pt x="3370" y="3036"/>
                  </a:lnTo>
                  <a:lnTo>
                    <a:pt x="3191" y="3215"/>
                  </a:lnTo>
                  <a:cubicBezTo>
                    <a:pt x="3132" y="3274"/>
                    <a:pt x="3132" y="3381"/>
                    <a:pt x="3191" y="3453"/>
                  </a:cubicBezTo>
                  <a:cubicBezTo>
                    <a:pt x="3221" y="3483"/>
                    <a:pt x="3263" y="3498"/>
                    <a:pt x="3306" y="3498"/>
                  </a:cubicBezTo>
                  <a:cubicBezTo>
                    <a:pt x="3349" y="3498"/>
                    <a:pt x="3394" y="3483"/>
                    <a:pt x="3430" y="3453"/>
                  </a:cubicBezTo>
                  <a:lnTo>
                    <a:pt x="3608" y="3274"/>
                  </a:lnTo>
                  <a:lnTo>
                    <a:pt x="4144" y="3810"/>
                  </a:lnTo>
                  <a:lnTo>
                    <a:pt x="3692" y="4262"/>
                  </a:lnTo>
                  <a:cubicBezTo>
                    <a:pt x="3632" y="4322"/>
                    <a:pt x="3632" y="4429"/>
                    <a:pt x="3692" y="4501"/>
                  </a:cubicBezTo>
                  <a:cubicBezTo>
                    <a:pt x="3721" y="4530"/>
                    <a:pt x="3763" y="4545"/>
                    <a:pt x="3806" y="4545"/>
                  </a:cubicBezTo>
                  <a:cubicBezTo>
                    <a:pt x="3849" y="4545"/>
                    <a:pt x="3894" y="4530"/>
                    <a:pt x="3930" y="4501"/>
                  </a:cubicBezTo>
                  <a:lnTo>
                    <a:pt x="4382" y="4048"/>
                  </a:lnTo>
                  <a:lnTo>
                    <a:pt x="4918" y="4584"/>
                  </a:lnTo>
                  <a:lnTo>
                    <a:pt x="4739" y="4763"/>
                  </a:lnTo>
                  <a:cubicBezTo>
                    <a:pt x="4680" y="4822"/>
                    <a:pt x="4680" y="4929"/>
                    <a:pt x="4739" y="5001"/>
                  </a:cubicBezTo>
                  <a:cubicBezTo>
                    <a:pt x="4769" y="5030"/>
                    <a:pt x="4811" y="5045"/>
                    <a:pt x="4854" y="5045"/>
                  </a:cubicBezTo>
                  <a:cubicBezTo>
                    <a:pt x="4897" y="5045"/>
                    <a:pt x="4942" y="5030"/>
                    <a:pt x="4977" y="5001"/>
                  </a:cubicBezTo>
                  <a:lnTo>
                    <a:pt x="5156" y="4822"/>
                  </a:lnTo>
                  <a:lnTo>
                    <a:pt x="5692" y="5358"/>
                  </a:lnTo>
                  <a:lnTo>
                    <a:pt x="5239" y="5810"/>
                  </a:lnTo>
                  <a:cubicBezTo>
                    <a:pt x="5180" y="5870"/>
                    <a:pt x="5180" y="5977"/>
                    <a:pt x="5239" y="6048"/>
                  </a:cubicBezTo>
                  <a:cubicBezTo>
                    <a:pt x="5269" y="6078"/>
                    <a:pt x="5311" y="6093"/>
                    <a:pt x="5354" y="6093"/>
                  </a:cubicBezTo>
                  <a:cubicBezTo>
                    <a:pt x="5397" y="6093"/>
                    <a:pt x="5442" y="6078"/>
                    <a:pt x="5477" y="6048"/>
                  </a:cubicBezTo>
                  <a:lnTo>
                    <a:pt x="5930" y="5596"/>
                  </a:lnTo>
                  <a:lnTo>
                    <a:pt x="6466" y="6132"/>
                  </a:lnTo>
                  <a:lnTo>
                    <a:pt x="6287" y="6310"/>
                  </a:lnTo>
                  <a:cubicBezTo>
                    <a:pt x="6228" y="6370"/>
                    <a:pt x="6228" y="6477"/>
                    <a:pt x="6287" y="6548"/>
                  </a:cubicBezTo>
                  <a:cubicBezTo>
                    <a:pt x="6317" y="6578"/>
                    <a:pt x="6359" y="6593"/>
                    <a:pt x="6402" y="6593"/>
                  </a:cubicBezTo>
                  <a:cubicBezTo>
                    <a:pt x="6445" y="6593"/>
                    <a:pt x="6490" y="6578"/>
                    <a:pt x="6525" y="6548"/>
                  </a:cubicBezTo>
                  <a:lnTo>
                    <a:pt x="6704" y="6370"/>
                  </a:lnTo>
                  <a:lnTo>
                    <a:pt x="7240" y="6906"/>
                  </a:lnTo>
                  <a:lnTo>
                    <a:pt x="6787" y="7358"/>
                  </a:lnTo>
                  <a:cubicBezTo>
                    <a:pt x="6728" y="7418"/>
                    <a:pt x="6728" y="7525"/>
                    <a:pt x="6787" y="7596"/>
                  </a:cubicBezTo>
                  <a:cubicBezTo>
                    <a:pt x="6817" y="7626"/>
                    <a:pt x="6859" y="7641"/>
                    <a:pt x="6902" y="7641"/>
                  </a:cubicBezTo>
                  <a:cubicBezTo>
                    <a:pt x="6945" y="7641"/>
                    <a:pt x="6990" y="7626"/>
                    <a:pt x="7025" y="7596"/>
                  </a:cubicBezTo>
                  <a:lnTo>
                    <a:pt x="7478" y="7144"/>
                  </a:lnTo>
                  <a:lnTo>
                    <a:pt x="8014" y="7680"/>
                  </a:lnTo>
                  <a:lnTo>
                    <a:pt x="7763" y="7787"/>
                  </a:lnTo>
                  <a:cubicBezTo>
                    <a:pt x="7704" y="7846"/>
                    <a:pt x="7704" y="7953"/>
                    <a:pt x="7763" y="8025"/>
                  </a:cubicBezTo>
                  <a:cubicBezTo>
                    <a:pt x="7787" y="8055"/>
                    <a:pt x="7826" y="8069"/>
                    <a:pt x="7869" y="8069"/>
                  </a:cubicBezTo>
                  <a:cubicBezTo>
                    <a:pt x="7912" y="8069"/>
                    <a:pt x="7960" y="8055"/>
                    <a:pt x="8002" y="8025"/>
                  </a:cubicBezTo>
                  <a:lnTo>
                    <a:pt x="8180" y="7846"/>
                  </a:lnTo>
                  <a:lnTo>
                    <a:pt x="8716" y="8382"/>
                  </a:lnTo>
                  <a:lnTo>
                    <a:pt x="8264" y="8834"/>
                  </a:lnTo>
                  <a:cubicBezTo>
                    <a:pt x="8204" y="8894"/>
                    <a:pt x="8204" y="8989"/>
                    <a:pt x="8264" y="9073"/>
                  </a:cubicBezTo>
                  <a:cubicBezTo>
                    <a:pt x="8293" y="9102"/>
                    <a:pt x="8335" y="9117"/>
                    <a:pt x="8378" y="9117"/>
                  </a:cubicBezTo>
                  <a:cubicBezTo>
                    <a:pt x="8421" y="9117"/>
                    <a:pt x="8466" y="9102"/>
                    <a:pt x="8502" y="9073"/>
                  </a:cubicBezTo>
                  <a:lnTo>
                    <a:pt x="8954" y="8620"/>
                  </a:lnTo>
                  <a:lnTo>
                    <a:pt x="9490" y="9156"/>
                  </a:lnTo>
                  <a:lnTo>
                    <a:pt x="9311" y="9335"/>
                  </a:lnTo>
                  <a:cubicBezTo>
                    <a:pt x="9252" y="9394"/>
                    <a:pt x="9252" y="9501"/>
                    <a:pt x="9311" y="9573"/>
                  </a:cubicBezTo>
                  <a:cubicBezTo>
                    <a:pt x="9335" y="9608"/>
                    <a:pt x="9383" y="9620"/>
                    <a:pt x="9430" y="9620"/>
                  </a:cubicBezTo>
                  <a:cubicBezTo>
                    <a:pt x="9466" y="9620"/>
                    <a:pt x="9514" y="9608"/>
                    <a:pt x="9549" y="9573"/>
                  </a:cubicBezTo>
                  <a:lnTo>
                    <a:pt x="9728" y="9394"/>
                  </a:lnTo>
                  <a:lnTo>
                    <a:pt x="10264" y="9930"/>
                  </a:lnTo>
                  <a:lnTo>
                    <a:pt x="9811" y="10382"/>
                  </a:lnTo>
                  <a:cubicBezTo>
                    <a:pt x="9752" y="10442"/>
                    <a:pt x="9752" y="10537"/>
                    <a:pt x="9811" y="10620"/>
                  </a:cubicBezTo>
                  <a:cubicBezTo>
                    <a:pt x="9847" y="10644"/>
                    <a:pt x="9883" y="10656"/>
                    <a:pt x="9930" y="10656"/>
                  </a:cubicBezTo>
                  <a:cubicBezTo>
                    <a:pt x="9978" y="10656"/>
                    <a:pt x="10026" y="10644"/>
                    <a:pt x="10049" y="10620"/>
                  </a:cubicBezTo>
                  <a:lnTo>
                    <a:pt x="10502" y="10168"/>
                  </a:lnTo>
                  <a:lnTo>
                    <a:pt x="10835" y="10513"/>
                  </a:lnTo>
                  <a:cubicBezTo>
                    <a:pt x="10895" y="10573"/>
                    <a:pt x="10919" y="10632"/>
                    <a:pt x="10919" y="10680"/>
                  </a:cubicBezTo>
                  <a:cubicBezTo>
                    <a:pt x="10919" y="10799"/>
                    <a:pt x="10823" y="10918"/>
                    <a:pt x="10681" y="10918"/>
                  </a:cubicBezTo>
                  <a:lnTo>
                    <a:pt x="9395" y="10918"/>
                  </a:lnTo>
                  <a:cubicBezTo>
                    <a:pt x="9311" y="10918"/>
                    <a:pt x="9228" y="10989"/>
                    <a:pt x="9228" y="11073"/>
                  </a:cubicBezTo>
                  <a:cubicBezTo>
                    <a:pt x="9228" y="11168"/>
                    <a:pt x="9311" y="11240"/>
                    <a:pt x="9395" y="11240"/>
                  </a:cubicBezTo>
                  <a:lnTo>
                    <a:pt x="10681" y="11240"/>
                  </a:lnTo>
                  <a:cubicBezTo>
                    <a:pt x="10990" y="11240"/>
                    <a:pt x="11240" y="10989"/>
                    <a:pt x="11240" y="10680"/>
                  </a:cubicBezTo>
                  <a:cubicBezTo>
                    <a:pt x="11192" y="10501"/>
                    <a:pt x="11133" y="10358"/>
                    <a:pt x="11038" y="10239"/>
                  </a:cubicBezTo>
                  <a:lnTo>
                    <a:pt x="965" y="167"/>
                  </a:lnTo>
                  <a:cubicBezTo>
                    <a:pt x="870" y="60"/>
                    <a:pt x="715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e809d6aa99_0_8"/>
            <p:cNvSpPr/>
            <p:nvPr/>
          </p:nvSpPr>
          <p:spPr>
            <a:xfrm>
              <a:off x="1366679" y="3029191"/>
              <a:ext cx="57981" cy="70289"/>
            </a:xfrm>
            <a:custGeom>
              <a:rect b="b" l="l" r="r" t="t"/>
              <a:pathLst>
                <a:path extrusionOk="0" h="2210" w="1823">
                  <a:moveTo>
                    <a:pt x="164" y="1"/>
                  </a:moveTo>
                  <a:cubicBezTo>
                    <a:pt x="140" y="1"/>
                    <a:pt x="116" y="6"/>
                    <a:pt x="96" y="18"/>
                  </a:cubicBezTo>
                  <a:cubicBezTo>
                    <a:pt x="36" y="42"/>
                    <a:pt x="0" y="102"/>
                    <a:pt x="0" y="161"/>
                  </a:cubicBezTo>
                  <a:lnTo>
                    <a:pt x="0" y="2043"/>
                  </a:lnTo>
                  <a:cubicBezTo>
                    <a:pt x="0" y="2126"/>
                    <a:pt x="72" y="2209"/>
                    <a:pt x="155" y="2209"/>
                  </a:cubicBezTo>
                  <a:cubicBezTo>
                    <a:pt x="250" y="2209"/>
                    <a:pt x="322" y="2126"/>
                    <a:pt x="322" y="2043"/>
                  </a:cubicBezTo>
                  <a:lnTo>
                    <a:pt x="322" y="566"/>
                  </a:lnTo>
                  <a:lnTo>
                    <a:pt x="1513" y="1757"/>
                  </a:lnTo>
                  <a:cubicBezTo>
                    <a:pt x="1542" y="1787"/>
                    <a:pt x="1584" y="1801"/>
                    <a:pt x="1627" y="1801"/>
                  </a:cubicBezTo>
                  <a:cubicBezTo>
                    <a:pt x="1670" y="1801"/>
                    <a:pt x="1715" y="1787"/>
                    <a:pt x="1751" y="1757"/>
                  </a:cubicBezTo>
                  <a:cubicBezTo>
                    <a:pt x="1822" y="1697"/>
                    <a:pt x="1810" y="1590"/>
                    <a:pt x="1751" y="1519"/>
                  </a:cubicBezTo>
                  <a:lnTo>
                    <a:pt x="274" y="42"/>
                  </a:lnTo>
                  <a:cubicBezTo>
                    <a:pt x="251" y="19"/>
                    <a:pt x="208" y="1"/>
                    <a:pt x="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809d6aa99_0_8"/>
            <p:cNvSpPr/>
            <p:nvPr/>
          </p:nvSpPr>
          <p:spPr>
            <a:xfrm>
              <a:off x="1428031" y="3091211"/>
              <a:ext cx="100377" cy="99518"/>
            </a:xfrm>
            <a:custGeom>
              <a:rect b="b" l="l" r="r" t="t"/>
              <a:pathLst>
                <a:path extrusionOk="0" h="3129" w="3156">
                  <a:moveTo>
                    <a:pt x="183" y="0"/>
                  </a:moveTo>
                  <a:cubicBezTo>
                    <a:pt x="140" y="0"/>
                    <a:pt x="95" y="15"/>
                    <a:pt x="60" y="45"/>
                  </a:cubicBezTo>
                  <a:cubicBezTo>
                    <a:pt x="0" y="104"/>
                    <a:pt x="0" y="212"/>
                    <a:pt x="60" y="283"/>
                  </a:cubicBezTo>
                  <a:lnTo>
                    <a:pt x="2572" y="2795"/>
                  </a:lnTo>
                  <a:lnTo>
                    <a:pt x="655" y="2795"/>
                  </a:lnTo>
                  <a:cubicBezTo>
                    <a:pt x="560" y="2795"/>
                    <a:pt x="488" y="2879"/>
                    <a:pt x="488" y="2962"/>
                  </a:cubicBezTo>
                  <a:cubicBezTo>
                    <a:pt x="488" y="3057"/>
                    <a:pt x="560" y="3129"/>
                    <a:pt x="655" y="3129"/>
                  </a:cubicBezTo>
                  <a:lnTo>
                    <a:pt x="2977" y="3129"/>
                  </a:lnTo>
                  <a:cubicBezTo>
                    <a:pt x="3048" y="3129"/>
                    <a:pt x="3108" y="3081"/>
                    <a:pt x="3132" y="3021"/>
                  </a:cubicBezTo>
                  <a:cubicBezTo>
                    <a:pt x="3155" y="2962"/>
                    <a:pt x="3143" y="2902"/>
                    <a:pt x="3096" y="2843"/>
                  </a:cubicBezTo>
                  <a:lnTo>
                    <a:pt x="298" y="45"/>
                  </a:lnTo>
                  <a:cubicBezTo>
                    <a:pt x="268" y="15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e809d6aa99_0_8"/>
            <p:cNvSpPr/>
            <p:nvPr/>
          </p:nvSpPr>
          <p:spPr>
            <a:xfrm>
              <a:off x="1366297" y="3110040"/>
              <a:ext cx="66663" cy="80689"/>
            </a:xfrm>
            <a:custGeom>
              <a:rect b="b" l="l" r="r" t="t"/>
              <a:pathLst>
                <a:path extrusionOk="0" h="2537" w="2096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2370"/>
                  </a:lnTo>
                  <a:cubicBezTo>
                    <a:pt x="1" y="2418"/>
                    <a:pt x="24" y="2453"/>
                    <a:pt x="48" y="2489"/>
                  </a:cubicBezTo>
                  <a:cubicBezTo>
                    <a:pt x="84" y="2513"/>
                    <a:pt x="120" y="2537"/>
                    <a:pt x="167" y="2537"/>
                  </a:cubicBezTo>
                  <a:lnTo>
                    <a:pt x="1929" y="2537"/>
                  </a:lnTo>
                  <a:cubicBezTo>
                    <a:pt x="2013" y="2537"/>
                    <a:pt x="2096" y="2453"/>
                    <a:pt x="2096" y="2370"/>
                  </a:cubicBezTo>
                  <a:cubicBezTo>
                    <a:pt x="2096" y="2287"/>
                    <a:pt x="2013" y="2203"/>
                    <a:pt x="1929" y="2203"/>
                  </a:cubicBezTo>
                  <a:lnTo>
                    <a:pt x="334" y="2203"/>
                  </a:ln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g3e809d6aa99_0_8"/>
          <p:cNvSpPr txBox="1"/>
          <p:nvPr>
            <p:ph idx="7" type="ctrTitle"/>
          </p:nvPr>
        </p:nvSpPr>
        <p:spPr>
          <a:xfrm>
            <a:off x="6835812" y="2889122"/>
            <a:ext cx="16482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MISR</a:t>
            </a:r>
            <a:endParaRPr/>
          </a:p>
        </p:txBody>
      </p:sp>
      <p:sp>
        <p:nvSpPr>
          <p:cNvPr id="403" name="Google Shape;403;g3e809d6aa99_0_8"/>
          <p:cNvSpPr txBox="1"/>
          <p:nvPr>
            <p:ph idx="8" type="subTitle"/>
          </p:nvPr>
        </p:nvSpPr>
        <p:spPr>
          <a:xfrm>
            <a:off x="6920113" y="3189150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Superresolución Multi-imagen utilizando series temporales.</a:t>
            </a:r>
            <a:endParaRPr/>
          </a:p>
        </p:txBody>
      </p:sp>
      <p:sp>
        <p:nvSpPr>
          <p:cNvPr id="404" name="Google Shape;404;g3e809d6aa99_0_8"/>
          <p:cNvSpPr/>
          <p:nvPr/>
        </p:nvSpPr>
        <p:spPr>
          <a:xfrm>
            <a:off x="-7950" y="2031425"/>
            <a:ext cx="362100" cy="19887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e809d6aa99_0_8"/>
          <p:cNvSpPr txBox="1"/>
          <p:nvPr>
            <p:ph idx="1" type="subTitle"/>
          </p:nvPr>
        </p:nvSpPr>
        <p:spPr>
          <a:xfrm>
            <a:off x="7615150" y="4789300"/>
            <a:ext cx="15291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s"/>
              <a:t>Aimar Alustiza Sanchez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387771"/>
      </a:accent1>
      <a:accent2>
        <a:srgbClr val="212121"/>
      </a:accent2>
      <a:accent3>
        <a:srgbClr val="9ECFCB"/>
      </a:accent3>
      <a:accent4>
        <a:srgbClr val="289C91"/>
      </a:accent4>
      <a:accent5>
        <a:srgbClr val="619792"/>
      </a:accent5>
      <a:accent6>
        <a:srgbClr val="384C4B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